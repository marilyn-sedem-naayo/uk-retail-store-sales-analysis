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92" r:id="rId2"/>
    <p:sldId id="1809" r:id="rId3"/>
    <p:sldId id="1815" r:id="rId4"/>
    <p:sldId id="264" r:id="rId5"/>
    <p:sldId id="1808" r:id="rId6"/>
    <p:sldId id="1795" r:id="rId7"/>
    <p:sldId id="1811" r:id="rId8"/>
    <p:sldId id="1799" r:id="rId9"/>
    <p:sldId id="1813" r:id="rId10"/>
    <p:sldId id="1800" r:id="rId11"/>
    <p:sldId id="1801" r:id="rId12"/>
    <p:sldId id="1816" r:id="rId13"/>
    <p:sldId id="1805" r:id="rId14"/>
    <p:sldId id="1812" r:id="rId15"/>
    <p:sldId id="1806" r:id="rId16"/>
    <p:sldId id="1807" r:id="rId17"/>
    <p:sldId id="1792" r:id="rId18"/>
  </p:sldIdLst>
  <p:sldSz cx="9144000" cy="5145088"/>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3177AA-101D-4A5C-96D6-EA63F7FB1BF2}">
          <p14:sldIdLst>
            <p14:sldId id="292"/>
            <p14:sldId id="1809"/>
            <p14:sldId id="1815"/>
            <p14:sldId id="264"/>
            <p14:sldId id="1808"/>
            <p14:sldId id="1795"/>
            <p14:sldId id="1811"/>
            <p14:sldId id="1799"/>
            <p14:sldId id="1813"/>
            <p14:sldId id="1800"/>
          </p14:sldIdLst>
        </p14:section>
        <p14:section name="Untitled Section" id="{4D73196B-C490-4DFF-A79F-6542C486D4A4}">
          <p14:sldIdLst>
            <p14:sldId id="1801"/>
            <p14:sldId id="1816"/>
            <p14:sldId id="1805"/>
            <p14:sldId id="1812"/>
            <p14:sldId id="1806"/>
            <p14:sldId id="1807"/>
            <p14:sldId id="1792"/>
          </p14:sldIdLst>
        </p14:section>
      </p14:sectionLst>
    </p:ex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99"/>
    <a:srgbClr val="92D6D9"/>
    <a:srgbClr val="123E61"/>
    <a:srgbClr val="EB8585"/>
    <a:srgbClr val="FFBD5A"/>
    <a:srgbClr val="FFAB2F"/>
    <a:srgbClr val="A6A6A6"/>
    <a:srgbClr val="C65885"/>
    <a:srgbClr val="FFB850"/>
    <a:srgbClr val="00A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5291" autoAdjust="0"/>
  </p:normalViewPr>
  <p:slideViewPr>
    <p:cSldViewPr>
      <p:cViewPr>
        <p:scale>
          <a:sx n="75" d="100"/>
          <a:sy n="75" d="100"/>
        </p:scale>
        <p:origin x="1176" y="330"/>
      </p:cViewPr>
      <p:guideLst>
        <p:guide orient="horz" pos="1621"/>
        <p:guide pos="2880"/>
      </p:guideLst>
    </p:cSldViewPr>
  </p:slideViewPr>
  <p:notesTextViewPr>
    <p:cViewPr>
      <p:scale>
        <a:sx n="100" d="100"/>
        <a:sy n="100" d="100"/>
      </p:scale>
      <p:origin x="0" y="0"/>
    </p:cViewPr>
  </p:notesTextViewPr>
  <p:sorterViewPr>
    <p:cViewPr>
      <p:scale>
        <a:sx n="186" d="100"/>
        <a:sy n="186"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70068543506493"/>
          <c:y val="0.16755708850929268"/>
          <c:w val="0.88285842516290203"/>
          <c:h val="0.67428992886621286"/>
        </c:manualLayout>
      </c:layout>
      <c:barChart>
        <c:barDir val="col"/>
        <c:grouping val="clustered"/>
        <c:varyColors val="0"/>
        <c:dLbls>
          <c:showLegendKey val="0"/>
          <c:showVal val="0"/>
          <c:showCatName val="0"/>
          <c:showSerName val="0"/>
          <c:showPercent val="0"/>
          <c:showBubbleSize val="0"/>
        </c:dLbls>
        <c:gapWidth val="219"/>
        <c:overlap val="-27"/>
        <c:axId val="643072904"/>
        <c:axId val="643067984"/>
      </c:barChart>
      <c:catAx>
        <c:axId val="643072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643067984"/>
        <c:crosses val="autoZero"/>
        <c:auto val="1"/>
        <c:lblAlgn val="ctr"/>
        <c:lblOffset val="100"/>
        <c:noMultiLvlLbl val="0"/>
      </c:catAx>
      <c:valAx>
        <c:axId val="643067984"/>
        <c:scaling>
          <c:orientation val="minMax"/>
        </c:scaling>
        <c:delete val="1"/>
        <c:axPos val="l"/>
        <c:numFmt formatCode="General" sourceLinked="1"/>
        <c:majorTickMark val="none"/>
        <c:minorTickMark val="none"/>
        <c:tickLblPos val="nextTo"/>
        <c:crossAx val="643072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70068543506493"/>
          <c:y val="0.16755708850929268"/>
          <c:w val="0.88285842516290203"/>
          <c:h val="0.67428992886621286"/>
        </c:manualLayout>
      </c:layout>
      <c:barChart>
        <c:barDir val="col"/>
        <c:grouping val="clustered"/>
        <c:varyColors val="0"/>
        <c:dLbls>
          <c:showLegendKey val="0"/>
          <c:showVal val="0"/>
          <c:showCatName val="0"/>
          <c:showSerName val="0"/>
          <c:showPercent val="0"/>
          <c:showBubbleSize val="0"/>
        </c:dLbls>
        <c:gapWidth val="219"/>
        <c:overlap val="-27"/>
        <c:axId val="643072904"/>
        <c:axId val="643067984"/>
      </c:barChart>
      <c:catAx>
        <c:axId val="643072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643067984"/>
        <c:crosses val="autoZero"/>
        <c:auto val="1"/>
        <c:lblAlgn val="ctr"/>
        <c:lblOffset val="100"/>
        <c:noMultiLvlLbl val="0"/>
      </c:catAx>
      <c:valAx>
        <c:axId val="643067984"/>
        <c:scaling>
          <c:orientation val="minMax"/>
        </c:scaling>
        <c:delete val="1"/>
        <c:axPos val="l"/>
        <c:numFmt formatCode="General" sourceLinked="1"/>
        <c:majorTickMark val="none"/>
        <c:minorTickMark val="none"/>
        <c:tickLblPos val="nextTo"/>
        <c:crossAx val="643072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70068543506493"/>
          <c:y val="0.16755708850929268"/>
          <c:w val="0.88285842516290203"/>
          <c:h val="0.67428992886621286"/>
        </c:manualLayout>
      </c:layout>
      <c:barChart>
        <c:barDir val="col"/>
        <c:grouping val="clustered"/>
        <c:varyColors val="0"/>
        <c:dLbls>
          <c:showLegendKey val="0"/>
          <c:showVal val="0"/>
          <c:showCatName val="0"/>
          <c:showSerName val="0"/>
          <c:showPercent val="0"/>
          <c:showBubbleSize val="0"/>
        </c:dLbls>
        <c:gapWidth val="219"/>
        <c:overlap val="-27"/>
        <c:axId val="643072904"/>
        <c:axId val="643067984"/>
      </c:barChart>
      <c:catAx>
        <c:axId val="643072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643067984"/>
        <c:crosses val="autoZero"/>
        <c:auto val="1"/>
        <c:lblAlgn val="ctr"/>
        <c:lblOffset val="100"/>
        <c:noMultiLvlLbl val="0"/>
      </c:catAx>
      <c:valAx>
        <c:axId val="643067984"/>
        <c:scaling>
          <c:orientation val="minMax"/>
        </c:scaling>
        <c:delete val="1"/>
        <c:axPos val="l"/>
        <c:numFmt formatCode="General" sourceLinked="1"/>
        <c:majorTickMark val="none"/>
        <c:minorTickMark val="none"/>
        <c:tickLblPos val="nextTo"/>
        <c:crossAx val="643072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5.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ADD41589-6B87-7C7F-B523-DE00A88460E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8869013" cy="4363059"/>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8A863E-D442-44F9-9BD6-E000583DFCBC}" type="datetimeFigureOut">
              <a:rPr lang="zh-CN" altLang="en-US" smtClean="0"/>
              <a:pPr/>
              <a:t>2024/4/29</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9AA98F-6474-4A59-A3C8-82662F366263}" type="slidenum">
              <a:rPr lang="zh-CN" altLang="en-US" smtClean="0"/>
              <a:pPr/>
              <a:t>‹#›</a:t>
            </a:fld>
            <a:endParaRPr lang="zh-CN" altLang="en-US"/>
          </a:p>
        </p:txBody>
      </p:sp>
    </p:spTree>
    <p:extLst>
      <p:ext uri="{BB962C8B-B14F-4D97-AF65-F5344CB8AC3E}">
        <p14:creationId xmlns:p14="http://schemas.microsoft.com/office/powerpoint/2010/main" val="1625757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1</a:t>
            </a:fld>
            <a:endParaRPr lang="zh-CN" altLang="en-US" dirty="0">
              <a:solidFill>
                <a:prstClr val="black"/>
              </a:solidFill>
            </a:endParaRPr>
          </a:p>
        </p:txBody>
      </p:sp>
    </p:spTree>
    <p:extLst>
      <p:ext uri="{BB962C8B-B14F-4D97-AF65-F5344CB8AC3E}">
        <p14:creationId xmlns:p14="http://schemas.microsoft.com/office/powerpoint/2010/main" val="4163636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Project Overview</a:t>
            </a:r>
          </a:p>
          <a:p>
            <a:pPr marL="171450" indent="-171450">
              <a:buFont typeface="Arial" panose="020B0604020202020204" pitchFamily="34" charset="0"/>
              <a:buChar char="•"/>
            </a:pPr>
            <a:r>
              <a:rPr lang="en-US" dirty="0"/>
              <a:t>Project Objectives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AA98F-6474-4A59-A3C8-82662F36626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3455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Project Overview</a:t>
            </a:r>
          </a:p>
          <a:p>
            <a:pPr marL="171450" indent="-171450">
              <a:buFont typeface="Arial" panose="020B0604020202020204" pitchFamily="34" charset="0"/>
              <a:buChar char="•"/>
            </a:pPr>
            <a:r>
              <a:rPr lang="en-US" dirty="0"/>
              <a:t>Project Objectives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AA98F-6474-4A59-A3C8-82662F36626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02225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Project Overview</a:t>
            </a:r>
          </a:p>
          <a:p>
            <a:pPr marL="171450" indent="-171450">
              <a:buFont typeface="Arial" panose="020B0604020202020204" pitchFamily="34" charset="0"/>
              <a:buChar char="•"/>
            </a:pPr>
            <a:r>
              <a:rPr lang="en-US" dirty="0"/>
              <a:t>Project Objectives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AA98F-6474-4A59-A3C8-82662F36626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10366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6</a:t>
            </a:fld>
            <a:endParaRPr lang="zh-CN" altLang="en-US"/>
          </a:p>
        </p:txBody>
      </p:sp>
    </p:spTree>
    <p:extLst>
      <p:ext uri="{BB962C8B-B14F-4D97-AF65-F5344CB8AC3E}">
        <p14:creationId xmlns:p14="http://schemas.microsoft.com/office/powerpoint/2010/main" val="3745938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Project Overview</a:t>
            </a:r>
          </a:p>
          <a:p>
            <a:pPr marL="171450" indent="-171450">
              <a:buFont typeface="Arial" panose="020B0604020202020204" pitchFamily="34" charset="0"/>
              <a:buChar char="•"/>
            </a:pPr>
            <a:r>
              <a:rPr lang="en-US" dirty="0"/>
              <a:t>Project Objectives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AA98F-6474-4A59-A3C8-82662F36626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20001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8</a:t>
            </a:fld>
            <a:endParaRPr lang="zh-CN" altLang="en-US"/>
          </a:p>
        </p:txBody>
      </p:sp>
    </p:spTree>
    <p:extLst>
      <p:ext uri="{BB962C8B-B14F-4D97-AF65-F5344CB8AC3E}">
        <p14:creationId xmlns:p14="http://schemas.microsoft.com/office/powerpoint/2010/main" val="2562930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9</a:t>
            </a:fld>
            <a:endParaRPr lang="zh-CN" altLang="en-US"/>
          </a:p>
        </p:txBody>
      </p:sp>
    </p:spTree>
    <p:extLst>
      <p:ext uri="{BB962C8B-B14F-4D97-AF65-F5344CB8AC3E}">
        <p14:creationId xmlns:p14="http://schemas.microsoft.com/office/powerpoint/2010/main" val="4240789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10</a:t>
            </a:fld>
            <a:endParaRPr lang="zh-CN" altLang="en-US"/>
          </a:p>
        </p:txBody>
      </p:sp>
    </p:spTree>
    <p:extLst>
      <p:ext uri="{BB962C8B-B14F-4D97-AF65-F5344CB8AC3E}">
        <p14:creationId xmlns:p14="http://schemas.microsoft.com/office/powerpoint/2010/main" val="3312723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Marketing Campaigns:</a:t>
            </a:r>
            <a:r>
              <a:rPr lang="en-US" b="0" i="0" dirty="0">
                <a:solidFill>
                  <a:srgbClr val="0D0D0D"/>
                </a:solidFill>
                <a:effectLst/>
                <a:latin typeface="Söhne"/>
              </a:rPr>
              <a:t> Launch targeted marketing campaigns to promote the least bought products. This could include social media advertising, email marketing, or collaborations with influencers.</a:t>
            </a:r>
          </a:p>
          <a:p>
            <a:pPr algn="l">
              <a:buFont typeface="+mj-lt"/>
              <a:buAutoNum type="arabicPeriod"/>
            </a:pPr>
            <a:r>
              <a:rPr lang="en-US" b="1" i="0" dirty="0">
                <a:solidFill>
                  <a:srgbClr val="0D0D0D"/>
                </a:solidFill>
                <a:effectLst/>
                <a:latin typeface="Söhne"/>
              </a:rPr>
              <a:t>Discounts and Promotions:</a:t>
            </a:r>
            <a:r>
              <a:rPr lang="en-US" b="0" i="0" dirty="0">
                <a:solidFill>
                  <a:srgbClr val="0D0D0D"/>
                </a:solidFill>
                <a:effectLst/>
                <a:latin typeface="Söhne"/>
              </a:rPr>
              <a:t> Offer discounts or promotions on the least bought products to incentivize purchases. This could be in the form of percentage discounts, buy-one-get-one offers, or limited-time sales.</a:t>
            </a:r>
          </a:p>
          <a:p>
            <a:pPr algn="l">
              <a:buFont typeface="+mj-lt"/>
              <a:buAutoNum type="arabicPeriod"/>
            </a:pPr>
            <a:r>
              <a:rPr lang="en-US" b="1" i="0" dirty="0">
                <a:solidFill>
                  <a:srgbClr val="0D0D0D"/>
                </a:solidFill>
                <a:effectLst/>
                <a:latin typeface="Söhne"/>
              </a:rPr>
              <a:t>Bundling:</a:t>
            </a:r>
            <a:r>
              <a:rPr lang="en-US" b="0" i="0" dirty="0">
                <a:solidFill>
                  <a:srgbClr val="0D0D0D"/>
                </a:solidFill>
                <a:effectLst/>
                <a:latin typeface="Söhne"/>
              </a:rPr>
              <a:t> Bundle the least bought products with more popular items to increase their visibility and encourage customers to try them out. This can create value for customers and increase overall sales.</a:t>
            </a:r>
          </a:p>
          <a:p>
            <a:pPr algn="l">
              <a:buFont typeface="+mj-lt"/>
              <a:buAutoNum type="arabicPeriod"/>
            </a:pPr>
            <a:r>
              <a:rPr lang="en-US" b="1" i="0" dirty="0">
                <a:solidFill>
                  <a:srgbClr val="0D0D0D"/>
                </a:solidFill>
                <a:effectLst/>
                <a:latin typeface="Söhne"/>
              </a:rPr>
              <a:t>Improving Product Visibility:</a:t>
            </a:r>
            <a:r>
              <a:rPr lang="en-US" b="0" i="0" dirty="0">
                <a:solidFill>
                  <a:srgbClr val="0D0D0D"/>
                </a:solidFill>
                <a:effectLst/>
                <a:latin typeface="Söhne"/>
              </a:rPr>
              <a:t> Ensure that the least bought products are prominently displayed</a:t>
            </a:r>
          </a:p>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11</a:t>
            </a:fld>
            <a:endParaRPr lang="zh-CN" altLang="en-US"/>
          </a:p>
        </p:txBody>
      </p:sp>
    </p:spTree>
    <p:extLst>
      <p:ext uri="{BB962C8B-B14F-4D97-AF65-F5344CB8AC3E}">
        <p14:creationId xmlns:p14="http://schemas.microsoft.com/office/powerpoint/2010/main" val="3185918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Marketing Campaigns:</a:t>
            </a:r>
            <a:r>
              <a:rPr lang="en-US" b="0" i="0" dirty="0">
                <a:solidFill>
                  <a:srgbClr val="0D0D0D"/>
                </a:solidFill>
                <a:effectLst/>
                <a:latin typeface="Söhne"/>
              </a:rPr>
              <a:t> Launch targeted marketing campaigns to promote the least bought products. This could include social media advertising, email marketing, or collaborations with influencers.</a:t>
            </a:r>
          </a:p>
          <a:p>
            <a:pPr algn="l">
              <a:buFont typeface="+mj-lt"/>
              <a:buAutoNum type="arabicPeriod"/>
            </a:pPr>
            <a:r>
              <a:rPr lang="en-US" b="1" i="0" dirty="0">
                <a:solidFill>
                  <a:srgbClr val="0D0D0D"/>
                </a:solidFill>
                <a:effectLst/>
                <a:latin typeface="Söhne"/>
              </a:rPr>
              <a:t>Discounts and Promotions:</a:t>
            </a:r>
            <a:r>
              <a:rPr lang="en-US" b="0" i="0" dirty="0">
                <a:solidFill>
                  <a:srgbClr val="0D0D0D"/>
                </a:solidFill>
                <a:effectLst/>
                <a:latin typeface="Söhne"/>
              </a:rPr>
              <a:t> Offer discounts or promotions on the least bought products to incentivize purchases. This could be in the form of percentage discounts, buy-one-get-one offers, or limited-time sales.</a:t>
            </a:r>
          </a:p>
          <a:p>
            <a:pPr algn="l">
              <a:buFont typeface="+mj-lt"/>
              <a:buAutoNum type="arabicPeriod"/>
            </a:pPr>
            <a:r>
              <a:rPr lang="en-US" b="1" i="0" dirty="0">
                <a:solidFill>
                  <a:srgbClr val="0D0D0D"/>
                </a:solidFill>
                <a:effectLst/>
                <a:latin typeface="Söhne"/>
              </a:rPr>
              <a:t>Bundling:</a:t>
            </a:r>
            <a:r>
              <a:rPr lang="en-US" b="0" i="0" dirty="0">
                <a:solidFill>
                  <a:srgbClr val="0D0D0D"/>
                </a:solidFill>
                <a:effectLst/>
                <a:latin typeface="Söhne"/>
              </a:rPr>
              <a:t> Bundle the least bought products with more popular items to increase their visibility and encourage customers to try them out. This can create value for customers and increase overall sales.</a:t>
            </a:r>
          </a:p>
          <a:p>
            <a:pPr algn="l">
              <a:buFont typeface="+mj-lt"/>
              <a:buAutoNum type="arabicPeriod"/>
            </a:pPr>
            <a:r>
              <a:rPr lang="en-US" b="1" i="0" dirty="0">
                <a:solidFill>
                  <a:srgbClr val="0D0D0D"/>
                </a:solidFill>
                <a:effectLst/>
                <a:latin typeface="Söhne"/>
              </a:rPr>
              <a:t>Improving Product Visibility:</a:t>
            </a:r>
            <a:r>
              <a:rPr lang="en-US" b="0" i="0" dirty="0">
                <a:solidFill>
                  <a:srgbClr val="0D0D0D"/>
                </a:solidFill>
                <a:effectLst/>
                <a:latin typeface="Söhne"/>
              </a:rPr>
              <a:t> Ensure that the least bought products are prominently displayed</a:t>
            </a:r>
          </a:p>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12</a:t>
            </a:fld>
            <a:endParaRPr lang="zh-CN" altLang="en-US"/>
          </a:p>
        </p:txBody>
      </p:sp>
    </p:spTree>
    <p:extLst>
      <p:ext uri="{BB962C8B-B14F-4D97-AF65-F5344CB8AC3E}">
        <p14:creationId xmlns:p14="http://schemas.microsoft.com/office/powerpoint/2010/main" val="3656448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13</a:t>
            </a:fld>
            <a:endParaRPr lang="zh-CN" altLang="en-US"/>
          </a:p>
        </p:txBody>
      </p:sp>
    </p:spTree>
    <p:extLst>
      <p:ext uri="{BB962C8B-B14F-4D97-AF65-F5344CB8AC3E}">
        <p14:creationId xmlns:p14="http://schemas.microsoft.com/office/powerpoint/2010/main" val="3393647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AA98F-6474-4A59-A3C8-82662F36626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78387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15</a:t>
            </a:fld>
            <a:endParaRPr lang="zh-CN" altLang="en-US"/>
          </a:p>
        </p:txBody>
      </p:sp>
    </p:spTree>
    <p:extLst>
      <p:ext uri="{BB962C8B-B14F-4D97-AF65-F5344CB8AC3E}">
        <p14:creationId xmlns:p14="http://schemas.microsoft.com/office/powerpoint/2010/main" val="2415062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2B9AA98F-6474-4A59-A3C8-82662F366263}" type="slidenum">
              <a:rPr lang="zh-CN" altLang="en-US" smtClean="0"/>
              <a:pPr/>
              <a:t>16</a:t>
            </a:fld>
            <a:endParaRPr lang="zh-CN" altLang="en-US"/>
          </a:p>
        </p:txBody>
      </p:sp>
    </p:spTree>
    <p:extLst>
      <p:ext uri="{BB962C8B-B14F-4D97-AF65-F5344CB8AC3E}">
        <p14:creationId xmlns:p14="http://schemas.microsoft.com/office/powerpoint/2010/main" val="2507125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314"/>
            <a:ext cx="7772400" cy="1102859"/>
          </a:xfrm>
        </p:spPr>
        <p:txBody>
          <a:bodyPr/>
          <a:lstStyle/>
          <a:p>
            <a:r>
              <a:rPr lang="zh-CN" altLang="en-US"/>
              <a:t>单击此处编辑母版标题样式</a:t>
            </a:r>
          </a:p>
        </p:txBody>
      </p:sp>
      <p:sp>
        <p:nvSpPr>
          <p:cNvPr id="3" name="副标题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6196"/>
            <a:ext cx="7772400" cy="102187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043"/>
            <a:ext cx="8229600" cy="857515"/>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61"/>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661"/>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4B006D-818D-47B3-9EBE-C5AB269A17AF}" type="slidenum">
              <a:rPr lang="zh-CN" altLang="en-US" smtClean="0"/>
              <a:pPr/>
              <a:t>‹#›</a:t>
            </a:fld>
            <a:endParaRPr lang="zh-CN" altLang="en-US"/>
          </a:p>
        </p:txBody>
      </p:sp>
      <p:sp>
        <p:nvSpPr>
          <p:cNvPr id="5" name="文本框 9"/>
          <p:cNvSpPr txBox="1"/>
          <p:nvPr userDrawn="1"/>
        </p:nvSpPr>
        <p:spPr>
          <a:xfrm>
            <a:off x="952374" y="230638"/>
            <a:ext cx="1963442" cy="267374"/>
          </a:xfrm>
          <a:prstGeom prst="rect">
            <a:avLst/>
          </a:prstGeom>
          <a:noFill/>
        </p:spPr>
        <p:txBody>
          <a:bodyPr wrap="square" lIns="51428" tIns="25714" rIns="51428" bIns="25714" rtlCol="0">
            <a:spAutoFit/>
          </a:bodyPr>
          <a:lstStyle/>
          <a:p>
            <a:pPr marL="0" lvl="1"/>
            <a:r>
              <a:rPr lang="en-US" altLang="zh-CN" sz="1400" dirty="0">
                <a:solidFill>
                  <a:schemeClr val="accent2"/>
                </a:solidFill>
                <a:latin typeface="微软雅黑" pitchFamily="34" charset="-122"/>
                <a:ea typeface="微软雅黑" pitchFamily="34" charset="-122"/>
              </a:rPr>
              <a:t>Add title text</a:t>
            </a:r>
            <a:endParaRPr lang="zh-CN" altLang="en-US" sz="1400" dirty="0">
              <a:solidFill>
                <a:schemeClr val="accent2"/>
              </a:solidFill>
              <a:latin typeface="微软雅黑" pitchFamily="34" charset="-122"/>
              <a:ea typeface="微软雅黑" pitchFamily="34" charset="-122"/>
            </a:endParaRPr>
          </a:p>
        </p:txBody>
      </p:sp>
      <p:cxnSp>
        <p:nvCxnSpPr>
          <p:cNvPr id="6" name="直接连接符 5"/>
          <p:cNvCxnSpPr/>
          <p:nvPr userDrawn="1"/>
        </p:nvCxnSpPr>
        <p:spPr>
          <a:xfrm>
            <a:off x="1006368" y="500751"/>
            <a:ext cx="7291077" cy="0"/>
          </a:xfrm>
          <a:prstGeom prst="line">
            <a:avLst/>
          </a:prstGeom>
          <a:ln>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7" name="组合 124"/>
          <p:cNvGrpSpPr/>
          <p:nvPr userDrawn="1"/>
        </p:nvGrpSpPr>
        <p:grpSpPr>
          <a:xfrm>
            <a:off x="8427408" y="344681"/>
            <a:ext cx="193989" cy="175003"/>
            <a:chOff x="3720691" y="2824413"/>
            <a:chExt cx="1341120" cy="1209172"/>
          </a:xfrm>
        </p:grpSpPr>
        <p:sp>
          <p:nvSpPr>
            <p:cNvPr id="8"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sp>
          <p:nvSpPr>
            <p:cNvPr id="9" name="Freeform 5"/>
            <p:cNvSpPr>
              <a:spLocks/>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latin typeface="方正兰亭黑简体" panose="02000000000000000000" pitchFamily="2" charset="-122"/>
                <a:ea typeface="方正兰亭黑简体" panose="02000000000000000000" pitchFamily="2" charset="-122"/>
              </a:endParaRPr>
            </a:p>
          </p:txBody>
        </p:sp>
      </p:grpSp>
      <p:grpSp>
        <p:nvGrpSpPr>
          <p:cNvPr id="10" name="组合 39"/>
          <p:cNvGrpSpPr/>
          <p:nvPr userDrawn="1"/>
        </p:nvGrpSpPr>
        <p:grpSpPr>
          <a:xfrm>
            <a:off x="431080" y="156138"/>
            <a:ext cx="474113" cy="427710"/>
            <a:chOff x="5446701" y="1360245"/>
            <a:chExt cx="632315" cy="570104"/>
          </a:xfrm>
        </p:grpSpPr>
        <p:sp>
          <p:nvSpPr>
            <p:cNvPr id="14" name="Freeform 5"/>
            <p:cNvSpPr>
              <a:spLocks/>
            </p:cNvSpPr>
            <p:nvPr/>
          </p:nvSpPr>
          <p:spPr bwMode="auto">
            <a:xfrm rot="1855731">
              <a:off x="5446701" y="1360245"/>
              <a:ext cx="632315" cy="5701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a typeface="微软雅黑" panose="020B0503020204020204" pitchFamily="34" charset="-122"/>
              </a:endParaRPr>
            </a:p>
          </p:txBody>
        </p:sp>
        <p:sp>
          <p:nvSpPr>
            <p:cNvPr id="12" name="Freeform 5"/>
            <p:cNvSpPr>
              <a:spLocks/>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accent1">
                  <a:lumMod val="75000"/>
                </a:schemeClr>
              </a:solidFill>
              <a:prstDash val="sysDash"/>
              <a:miter lim="800000"/>
              <a:headEnd/>
              <a:tailEnd/>
            </a:ln>
            <a:effec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a typeface="微软雅黑" panose="020B0503020204020204" pitchFamily="34" charset="-122"/>
              </a:endParaRPr>
            </a:p>
          </p:txBody>
        </p:sp>
      </p:grpSp>
      <p:sp>
        <p:nvSpPr>
          <p:cNvPr id="15" name="KSO_Shape"/>
          <p:cNvSpPr>
            <a:spLocks/>
          </p:cNvSpPr>
          <p:nvPr userDrawn="1"/>
        </p:nvSpPr>
        <p:spPr bwMode="auto">
          <a:xfrm>
            <a:off x="536472" y="259077"/>
            <a:ext cx="256877" cy="218469"/>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accent1"/>
          </a:solidFill>
          <a:ln>
            <a:noFill/>
          </a:ln>
        </p:spPr>
        <p:txBody>
          <a:bodyPr lIns="68571" tIns="34285" rIns="68571" bIns="34285" anchor="ctr">
            <a:scene3d>
              <a:camera prst="orthographicFront"/>
              <a:lightRig rig="threePt" dir="t"/>
            </a:scene3d>
            <a:sp3d contourW="12700">
              <a:contourClr>
                <a:srgbClr val="FFFFFF"/>
              </a:contourClr>
            </a:sp3d>
          </a:bodyPr>
          <a:lstStyle/>
          <a:p>
            <a:pPr algn="ctr">
              <a:defRPr/>
            </a:pPr>
            <a:endParaRPr lang="zh-CN" altLang="en-US" dirty="0">
              <a:solidFill>
                <a:srgbClr val="1C666E"/>
              </a:solidFill>
              <a:latin typeface="微软雅黑" panose="020B0503020204020204" pitchFamily="34" charset="-122"/>
              <a:ea typeface="宋体" panose="02010600030101010101" pitchFamily="2" charset="-122"/>
            </a:endParaRPr>
          </a:p>
        </p:txBody>
      </p:sp>
      <p:sp>
        <p:nvSpPr>
          <p:cNvPr id="16" name="文本框 38"/>
          <p:cNvSpPr txBox="1"/>
          <p:nvPr userDrawn="1"/>
        </p:nvSpPr>
        <p:spPr>
          <a:xfrm>
            <a:off x="2087724" y="232285"/>
            <a:ext cx="2412268" cy="266653"/>
          </a:xfrm>
          <a:prstGeom prst="rect">
            <a:avLst/>
          </a:prstGeom>
          <a:noFill/>
        </p:spPr>
        <p:txBody>
          <a:bodyPr wrap="square" lIns="96434" tIns="48217" rIns="96434" bIns="48217" rtlCol="0">
            <a:spAutoFit/>
          </a:bodyPr>
          <a:lstStyle/>
          <a:p>
            <a:pPr algn="l" defTabSz="964278"/>
            <a:r>
              <a:rPr lang="en-US" altLang="zh-CN" sz="11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ADD RELATED TITLE WORDS</a:t>
            </a:r>
            <a:endParaRPr lang="zh-CN" altLang="en-US" sz="11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3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852"/>
            <a:ext cx="3008313" cy="87180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659"/>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561"/>
            <a:ext cx="5486400" cy="42518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724"/>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830"/>
            <a:ext cx="2057400" cy="329309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830"/>
            <a:ext cx="6019800" cy="329309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49ED60E-3B8D-47C1-9682-1C12509BF99F}" type="datetimeFigureOut">
              <a:rPr lang="zh-CN" altLang="en-US" smtClean="0"/>
              <a:pPr/>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B006D-818D-47B3-9EBE-C5AB269A17AF}"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4768736"/>
            <a:ext cx="2133600" cy="273929"/>
          </a:xfrm>
          <a:prstGeom prst="rect">
            <a:avLst/>
          </a:prstGeom>
        </p:spPr>
        <p:txBody>
          <a:bodyPr/>
          <a:lstStyle/>
          <a:p>
            <a:endParaRPr lang="zh-CN" altLang="en-US"/>
          </a:p>
        </p:txBody>
      </p:sp>
      <p:sp>
        <p:nvSpPr>
          <p:cNvPr id="5" name="页脚占位符 4"/>
          <p:cNvSpPr>
            <a:spLocks noGrp="1"/>
          </p:cNvSpPr>
          <p:nvPr>
            <p:ph type="ftr" sz="quarter" idx="11"/>
          </p:nvPr>
        </p:nvSpPr>
        <p:spPr>
          <a:xfrm>
            <a:off x="3124200" y="4768736"/>
            <a:ext cx="2895600" cy="27392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6121" y="4788105"/>
            <a:ext cx="410853" cy="273929"/>
          </a:xfrm>
          <a:prstGeom prst="rect">
            <a:avLst/>
          </a:prstGeom>
        </p:spPr>
        <p:txBody>
          <a:bodyPr/>
          <a:lstStyle/>
          <a:p>
            <a:fld id="{ECB62A96-75BD-4D1B-A9DE-49026C62D5F2}" type="slidenum">
              <a:rPr lang="zh-CN" altLang="en-US" smtClean="0"/>
              <a:pPr/>
              <a:t>‹#›</a:t>
            </a:fld>
            <a:endParaRPr lang="zh-CN" altLang="en-US"/>
          </a:p>
        </p:txBody>
      </p:sp>
    </p:spTree>
    <p:extLst>
      <p:ext uri="{BB962C8B-B14F-4D97-AF65-F5344CB8AC3E}">
        <p14:creationId xmlns:p14="http://schemas.microsoft.com/office/powerpoint/2010/main" val="15702280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69719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7496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2982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19931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12516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userDrawn="1"/>
        </p:nvSpPr>
        <p:spPr>
          <a:xfrm>
            <a:off x="5328084" y="3868688"/>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2" name="标题占位符 1"/>
          <p:cNvSpPr>
            <a:spLocks noGrp="1"/>
          </p:cNvSpPr>
          <p:nvPr>
            <p:ph type="title"/>
          </p:nvPr>
        </p:nvSpPr>
        <p:spPr>
          <a:xfrm>
            <a:off x="457200" y="206043"/>
            <a:ext cx="8229600" cy="85751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8736"/>
            <a:ext cx="2133600" cy="273928"/>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F49ED60E-3B8D-47C1-9682-1C12509BF99F}" type="datetimeFigureOut">
              <a:rPr lang="zh-CN" altLang="en-US" smtClean="0"/>
              <a:pPr/>
              <a:t>2024/4/29</a:t>
            </a:fld>
            <a:endParaRPr lang="zh-CN" altLang="en-US" dirty="0"/>
          </a:p>
        </p:txBody>
      </p:sp>
      <p:sp>
        <p:nvSpPr>
          <p:cNvPr id="5" name="页脚占位符 4"/>
          <p:cNvSpPr>
            <a:spLocks noGrp="1"/>
          </p:cNvSpPr>
          <p:nvPr>
            <p:ph type="ftr" sz="quarter" idx="3"/>
          </p:nvPr>
        </p:nvSpPr>
        <p:spPr>
          <a:xfrm>
            <a:off x="3124200" y="4768736"/>
            <a:ext cx="2895600" cy="273928"/>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6553200" y="4768736"/>
            <a:ext cx="2133600" cy="273928"/>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A24B006D-818D-47B3-9EBE-C5AB269A17AF}" type="slidenum">
              <a:rPr lang="zh-CN" altLang="en-US" smtClean="0"/>
              <a:pPr/>
              <a:t>‹#›</a:t>
            </a:fld>
            <a:endParaRPr lang="zh-CN" altLang="en-US" dirty="0"/>
          </a:p>
        </p:txBody>
      </p:sp>
      <p:pic>
        <p:nvPicPr>
          <p:cNvPr id="8" name="图片 7"/>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0" y="0"/>
            <a:ext cx="9144000" cy="5148072"/>
          </a:xfrm>
          <a:prstGeom prst="rect">
            <a:avLst/>
          </a:prstGeom>
        </p:spPr>
      </p:pic>
      <p:sp>
        <p:nvSpPr>
          <p:cNvPr id="9" name="矩形 8"/>
          <p:cNvSpPr/>
          <p:nvPr userDrawn="1"/>
        </p:nvSpPr>
        <p:spPr>
          <a:xfrm>
            <a:off x="0" y="0"/>
            <a:ext cx="9144000" cy="5145088"/>
          </a:xfrm>
          <a:prstGeom prst="rect">
            <a:avLst/>
          </a:prstGeom>
          <a:gradFill>
            <a:gsLst>
              <a:gs pos="52100">
                <a:srgbClr val="EFEFEF"/>
              </a:gs>
              <a:gs pos="0">
                <a:srgbClr val="EFEFEF"/>
              </a:gs>
              <a:gs pos="100000">
                <a:srgbClr val="EFEFE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99         _4"/>
          <p:cNvSpPr/>
          <p:nvPr/>
        </p:nvSpPr>
        <p:spPr>
          <a:xfrm>
            <a:off x="1003726" y="1021394"/>
            <a:ext cx="6862422" cy="1200329"/>
          </a:xfrm>
          <a:prstGeom prst="rect">
            <a:avLst/>
          </a:prstGeom>
          <a:noFill/>
        </p:spPr>
        <p:txBody>
          <a:bodyPr wrap="square" rtlCol="0">
            <a:spAutoFit/>
          </a:bodyPr>
          <a:lstStyle/>
          <a:p>
            <a:pPr algn="ctr" fontAlgn="base">
              <a:spcBef>
                <a:spcPct val="0"/>
              </a:spcBef>
              <a:spcAft>
                <a:spcPct val="0"/>
              </a:spcAft>
            </a:pPr>
            <a:r>
              <a:rPr lang="en-US" altLang="zh-CN" sz="3600" b="1" dirty="0">
                <a:ln w="6350">
                  <a:noFill/>
                </a:ln>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UK RETAIL STORE SALES DATA ANALYSIS</a:t>
            </a:r>
            <a:endParaRPr lang="zh-CN" altLang="en-US" sz="3600" b="1" dirty="0">
              <a:ln w="6350">
                <a:noFill/>
              </a:ln>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nvGrpSpPr>
          <p:cNvPr id="75" name="组合 127"/>
          <p:cNvGrpSpPr/>
          <p:nvPr/>
        </p:nvGrpSpPr>
        <p:grpSpPr>
          <a:xfrm>
            <a:off x="797306" y="4564325"/>
            <a:ext cx="4492270" cy="778133"/>
            <a:chOff x="304800" y="673100"/>
            <a:chExt cx="33382173" cy="5781327"/>
          </a:xfrm>
          <a:effectLst>
            <a:outerShdw blurRad="444500" dist="254000" dir="8100000" algn="tr" rotWithShape="0">
              <a:prstClr val="black">
                <a:alpha val="50000"/>
              </a:prstClr>
            </a:outerShdw>
          </a:effectLst>
        </p:grpSpPr>
        <p:sp>
          <p:nvSpPr>
            <p:cNvPr id="76" name="同心圆 7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77" name="椭圆 76"/>
            <p:cNvSpPr/>
            <p:nvPr/>
          </p:nvSpPr>
          <p:spPr>
            <a:xfrm>
              <a:off x="29861102" y="2628556"/>
              <a:ext cx="3825871" cy="3825871"/>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84" name="组合 136"/>
          <p:cNvGrpSpPr/>
          <p:nvPr/>
        </p:nvGrpSpPr>
        <p:grpSpPr>
          <a:xfrm>
            <a:off x="784456" y="4722175"/>
            <a:ext cx="588755" cy="588857"/>
            <a:chOff x="304800" y="673100"/>
            <a:chExt cx="4000500" cy="4000500"/>
          </a:xfrm>
          <a:effectLst>
            <a:outerShdw blurRad="444500" dist="254000" dir="8100000" algn="tr" rotWithShape="0">
              <a:prstClr val="black">
                <a:alpha val="50000"/>
              </a:prstClr>
            </a:outerShdw>
          </a:effectLst>
        </p:grpSpPr>
        <p:sp>
          <p:nvSpPr>
            <p:cNvPr id="85" name="同心圆 8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86" name="椭圆 8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87" name="组合 139"/>
          <p:cNvGrpSpPr/>
          <p:nvPr/>
        </p:nvGrpSpPr>
        <p:grpSpPr>
          <a:xfrm>
            <a:off x="3962506" y="4529854"/>
            <a:ext cx="252447" cy="252491"/>
            <a:chOff x="304800" y="673100"/>
            <a:chExt cx="4000500" cy="4000500"/>
          </a:xfrm>
          <a:effectLst>
            <a:outerShdw blurRad="444500" dist="254000" dir="8100000" algn="tr" rotWithShape="0">
              <a:prstClr val="black">
                <a:alpha val="50000"/>
              </a:prstClr>
            </a:outerShdw>
          </a:effectLst>
        </p:grpSpPr>
        <p:sp>
          <p:nvSpPr>
            <p:cNvPr id="88" name="同心圆 8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89" name="椭圆 8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94" name="同心圆 93"/>
          <p:cNvSpPr/>
          <p:nvPr/>
        </p:nvSpPr>
        <p:spPr>
          <a:xfrm>
            <a:off x="8029223" y="3682020"/>
            <a:ext cx="1044954" cy="1045136"/>
          </a:xfrm>
          <a:prstGeom prst="donut">
            <a:avLst>
              <a:gd name="adj" fmla="val 4879"/>
            </a:avLst>
          </a:prstGeom>
          <a:solidFill>
            <a:schemeClr val="bg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96" name="组合 148"/>
          <p:cNvGrpSpPr/>
          <p:nvPr/>
        </p:nvGrpSpPr>
        <p:grpSpPr>
          <a:xfrm>
            <a:off x="4419629" y="4325144"/>
            <a:ext cx="223041" cy="223080"/>
            <a:chOff x="304800" y="673100"/>
            <a:chExt cx="4000500" cy="4000500"/>
          </a:xfrm>
          <a:effectLst>
            <a:outerShdw blurRad="444500" dist="254000" dir="8100000" algn="tr" rotWithShape="0">
              <a:prstClr val="black">
                <a:alpha val="50000"/>
              </a:prstClr>
            </a:outerShdw>
          </a:effectLst>
        </p:grpSpPr>
        <p:sp>
          <p:nvSpPr>
            <p:cNvPr id="97" name="同心圆 9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98" name="椭圆 97"/>
            <p:cNvSpPr/>
            <p:nvPr/>
          </p:nvSpPr>
          <p:spPr>
            <a:xfrm>
              <a:off x="392112" y="760412"/>
              <a:ext cx="3825874" cy="3825874"/>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grpSp>
        <p:nvGrpSpPr>
          <p:cNvPr id="105" name="组合 157"/>
          <p:cNvGrpSpPr/>
          <p:nvPr/>
        </p:nvGrpSpPr>
        <p:grpSpPr>
          <a:xfrm>
            <a:off x="6863032" y="4657535"/>
            <a:ext cx="316822" cy="316877"/>
            <a:chOff x="304800" y="673100"/>
            <a:chExt cx="4000500" cy="4000500"/>
          </a:xfr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effectLst>
            <a:outerShdw blurRad="444500" dist="254000" dir="8100000" algn="tr" rotWithShape="0">
              <a:prstClr val="black">
                <a:alpha val="50000"/>
              </a:prstClr>
            </a:outerShdw>
          </a:effectLst>
        </p:grpSpPr>
        <p:sp>
          <p:nvSpPr>
            <p:cNvPr id="106" name="同心圆 105"/>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7" name="椭圆 106"/>
            <p:cNvSpPr/>
            <p:nvPr/>
          </p:nvSpPr>
          <p:spPr>
            <a:xfrm>
              <a:off x="392112" y="760412"/>
              <a:ext cx="3825874" cy="3825874"/>
            </a:xfrm>
            <a:prstGeom prst="ellips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grpSp>
      <p:sp>
        <p:nvSpPr>
          <p:cNvPr id="2" name="TextBox 1">
            <a:extLst>
              <a:ext uri="{FF2B5EF4-FFF2-40B4-BE49-F238E27FC236}">
                <a16:creationId xmlns:a16="http://schemas.microsoft.com/office/drawing/2014/main" id="{BC4D8872-BEB0-BB7D-3FC8-F603F5C19FE2}"/>
              </a:ext>
            </a:extLst>
          </p:cNvPr>
          <p:cNvSpPr txBox="1"/>
          <p:nvPr/>
        </p:nvSpPr>
        <p:spPr>
          <a:xfrm>
            <a:off x="3192799" y="3320232"/>
            <a:ext cx="2484276" cy="369332"/>
          </a:xfrm>
          <a:prstGeom prst="rect">
            <a:avLst/>
          </a:prstGeom>
          <a:noFill/>
        </p:spPr>
        <p:txBody>
          <a:bodyPr wrap="square" rtlCol="0">
            <a:spAutoFit/>
          </a:bodyPr>
          <a:lstStyle/>
          <a:p>
            <a:r>
              <a:rPr lang="en-US" dirty="0"/>
              <a:t>MARILYN SEDEM NAAYO</a:t>
            </a:r>
          </a:p>
        </p:txBody>
      </p:sp>
      <p:sp>
        <p:nvSpPr>
          <p:cNvPr id="3" name="TextBox 2">
            <a:extLst>
              <a:ext uri="{FF2B5EF4-FFF2-40B4-BE49-F238E27FC236}">
                <a16:creationId xmlns:a16="http://schemas.microsoft.com/office/drawing/2014/main" id="{224EE7A7-78E5-9FEB-119A-71DEBFEFE8CD}"/>
              </a:ext>
            </a:extLst>
          </p:cNvPr>
          <p:cNvSpPr txBox="1"/>
          <p:nvPr/>
        </p:nvSpPr>
        <p:spPr>
          <a:xfrm>
            <a:off x="3779912" y="2991420"/>
            <a:ext cx="1440160" cy="307777"/>
          </a:xfrm>
          <a:prstGeom prst="rect">
            <a:avLst/>
          </a:prstGeom>
          <a:noFill/>
        </p:spPr>
        <p:txBody>
          <a:bodyPr wrap="square" rtlCol="0">
            <a:spAutoFit/>
          </a:bodyPr>
          <a:lstStyle/>
          <a:p>
            <a:r>
              <a:rPr lang="en-US" sz="1400" dirty="0"/>
              <a:t>PRESENTED BY</a:t>
            </a:r>
          </a:p>
        </p:txBody>
      </p:sp>
      <p:sp>
        <p:nvSpPr>
          <p:cNvPr id="4" name="Circle: Hollow 3">
            <a:extLst>
              <a:ext uri="{FF2B5EF4-FFF2-40B4-BE49-F238E27FC236}">
                <a16:creationId xmlns:a16="http://schemas.microsoft.com/office/drawing/2014/main" id="{E536CA66-B7F9-D164-E951-D20E39DFBE3A}"/>
              </a:ext>
            </a:extLst>
          </p:cNvPr>
          <p:cNvSpPr/>
          <p:nvPr/>
        </p:nvSpPr>
        <p:spPr>
          <a:xfrm>
            <a:off x="7679402" y="3280008"/>
            <a:ext cx="1044953" cy="1045136"/>
          </a:xfrm>
          <a:prstGeom prst="donut">
            <a:avLst>
              <a:gd name="adj" fmla="val 7573"/>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5" name="Oval 4">
            <a:extLst>
              <a:ext uri="{FF2B5EF4-FFF2-40B4-BE49-F238E27FC236}">
                <a16:creationId xmlns:a16="http://schemas.microsoft.com/office/drawing/2014/main" id="{95DC3AE1-A6D0-C1F7-51D0-1E2D122CFE9F}"/>
              </a:ext>
            </a:extLst>
          </p:cNvPr>
          <p:cNvSpPr/>
          <p:nvPr/>
        </p:nvSpPr>
        <p:spPr>
          <a:xfrm>
            <a:off x="7502" y="3915421"/>
            <a:ext cx="981235" cy="981406"/>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400E6EA6-5FA3-AB97-507D-007459D245DC}"/>
              </a:ext>
            </a:extLst>
          </p:cNvPr>
          <p:cNvPicPr>
            <a:picLocks noChangeAspect="1"/>
          </p:cNvPicPr>
          <p:nvPr/>
        </p:nvPicPr>
        <p:blipFill>
          <a:blip r:embed="rId3"/>
          <a:stretch>
            <a:fillRect/>
          </a:stretch>
        </p:blipFill>
        <p:spPr>
          <a:xfrm>
            <a:off x="-311490" y="4335443"/>
            <a:ext cx="999831" cy="999831"/>
          </a:xfrm>
          <a:prstGeom prst="rect">
            <a:avLst/>
          </a:prstGeom>
        </p:spPr>
      </p:pic>
    </p:spTree>
    <p:extLst>
      <p:ext uri="{BB962C8B-B14F-4D97-AF65-F5344CB8AC3E}">
        <p14:creationId xmlns:p14="http://schemas.microsoft.com/office/powerpoint/2010/main" val="39529763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Green analysis Digital analytics data ...">
            <a:extLst>
              <a:ext uri="{FF2B5EF4-FFF2-40B4-BE49-F238E27FC236}">
                <a16:creationId xmlns:a16="http://schemas.microsoft.com/office/drawing/2014/main" id="{863A98B7-3909-F77C-4818-BFF94A7BE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5145089"/>
          </a:xfrm>
          <a:prstGeom prst="rect">
            <a:avLst/>
          </a:prstGeom>
          <a:noFill/>
          <a:extLst>
            <a:ext uri="{909E8E84-426E-40DD-AFC4-6F175D3DCCD1}">
              <a14:hiddenFill xmlns:a14="http://schemas.microsoft.com/office/drawing/2010/main">
                <a:solidFill>
                  <a:srgbClr val="FFFFFF"/>
                </a:solidFill>
              </a14:hiddenFill>
            </a:ext>
          </a:extLst>
        </p:spPr>
      </p:pic>
      <p:sp>
        <p:nvSpPr>
          <p:cNvPr id="45" name="文本框 9"/>
          <p:cNvSpPr txBox="1"/>
          <p:nvPr/>
        </p:nvSpPr>
        <p:spPr>
          <a:xfrm>
            <a:off x="1331640" y="1168388"/>
            <a:ext cx="6169142" cy="605922"/>
          </a:xfrm>
          <a:prstGeom prst="rect">
            <a:avLst/>
          </a:prstGeom>
          <a:noFill/>
        </p:spPr>
        <p:txBody>
          <a:bodyPr wrap="square" lIns="51422" tIns="25711" rIns="51422" bIns="25711" rtlCol="0">
            <a:spAutoFit/>
          </a:bodyPr>
          <a:lstStyle/>
          <a:p>
            <a:pPr marL="0" lvl="1" algn="ctr"/>
            <a:r>
              <a:rPr lang="en-US" altLang="zh-CN" sz="3600" b="1" dirty="0">
                <a:solidFill>
                  <a:schemeClr val="bg1">
                    <a:lumMod val="95000"/>
                  </a:schemeClr>
                </a:solidFill>
                <a:latin typeface="微软雅黑" panose="020B0503020204020204" pitchFamily="34" charset="-122"/>
                <a:ea typeface="微软雅黑" panose="020B0503020204020204" pitchFamily="34" charset="-122"/>
              </a:rPr>
              <a:t>INTRODUCTION</a:t>
            </a:r>
            <a:endParaRPr lang="zh-CN" altLang="en-US" sz="1400" dirty="0">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0755280"/>
      </p:ext>
    </p:extLst>
  </p:cSld>
  <p:clrMapOvr>
    <a:masterClrMapping/>
  </p:clrMapOvr>
  <p:transition spd="slow" advClick="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45636" y="3821119"/>
            <a:ext cx="391992" cy="391992"/>
            <a:chOff x="3724323" y="1908536"/>
            <a:chExt cx="1329153" cy="1329153"/>
          </a:xfrm>
        </p:grpSpPr>
        <p:sp>
          <p:nvSpPr>
            <p:cNvPr id="11" name="椭圆 10"/>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2" name="椭圆 11"/>
            <p:cNvSpPr/>
            <p:nvPr/>
          </p:nvSpPr>
          <p:spPr>
            <a:xfrm>
              <a:off x="3839838" y="2024052"/>
              <a:ext cx="1098122" cy="1098122"/>
            </a:xfrm>
            <a:prstGeom prst="ellipse">
              <a:avLst/>
            </a:prstGeom>
            <a:solidFill>
              <a:schemeClr val="tx1">
                <a:lumMod val="50000"/>
                <a:lumOff val="5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3" name="组合 12"/>
          <p:cNvGrpSpPr/>
          <p:nvPr/>
        </p:nvGrpSpPr>
        <p:grpSpPr>
          <a:xfrm>
            <a:off x="-1259129" y="3789740"/>
            <a:ext cx="2616232" cy="2616232"/>
            <a:chOff x="3724323" y="1908536"/>
            <a:chExt cx="1329153" cy="1329153"/>
          </a:xfrm>
        </p:grpSpPr>
        <p:sp>
          <p:nvSpPr>
            <p:cNvPr id="14" name="椭圆 13"/>
            <p:cNvSpPr/>
            <p:nvPr/>
          </p:nvSpPr>
          <p:spPr>
            <a:xfrm>
              <a:off x="3724323" y="1908536"/>
              <a:ext cx="1329153" cy="1329153"/>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5" name="椭圆 14"/>
            <p:cNvSpPr/>
            <p:nvPr/>
          </p:nvSpPr>
          <p:spPr>
            <a:xfrm>
              <a:off x="3847467"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16" name="组合 15"/>
          <p:cNvGrpSpPr/>
          <p:nvPr/>
        </p:nvGrpSpPr>
        <p:grpSpPr>
          <a:xfrm>
            <a:off x="1216050" y="4405806"/>
            <a:ext cx="556818" cy="556818"/>
            <a:chOff x="3724323" y="1908536"/>
            <a:chExt cx="1329153" cy="1329153"/>
          </a:xfrm>
        </p:grpSpPr>
        <p:sp>
          <p:nvSpPr>
            <p:cNvPr id="17" name="椭圆 16"/>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8" name="椭圆 17"/>
            <p:cNvSpPr/>
            <p:nvPr/>
          </p:nvSpPr>
          <p:spPr>
            <a:xfrm>
              <a:off x="3858344" y="2018357"/>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9" name="组合 18"/>
          <p:cNvGrpSpPr/>
          <p:nvPr/>
        </p:nvGrpSpPr>
        <p:grpSpPr>
          <a:xfrm>
            <a:off x="2221892" y="4192303"/>
            <a:ext cx="854839" cy="854839"/>
            <a:chOff x="3724323" y="1908536"/>
            <a:chExt cx="1329153" cy="1329153"/>
          </a:xfrm>
        </p:grpSpPr>
        <p:sp>
          <p:nvSpPr>
            <p:cNvPr id="20" name="椭圆 19"/>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1" name="椭圆 20"/>
            <p:cNvSpPr/>
            <p:nvPr/>
          </p:nvSpPr>
          <p:spPr>
            <a:xfrm>
              <a:off x="3863845" y="2038374"/>
              <a:ext cx="1098121" cy="1098121"/>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2" name="组合 21"/>
          <p:cNvGrpSpPr/>
          <p:nvPr/>
        </p:nvGrpSpPr>
        <p:grpSpPr>
          <a:xfrm>
            <a:off x="1704162" y="3938806"/>
            <a:ext cx="548610" cy="548610"/>
            <a:chOff x="3724323" y="1908536"/>
            <a:chExt cx="1329153" cy="1329153"/>
          </a:xfrm>
        </p:grpSpPr>
        <p:sp>
          <p:nvSpPr>
            <p:cNvPr id="23" name="椭圆 22"/>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4" name="椭圆 23"/>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5" name="组合 24"/>
          <p:cNvGrpSpPr/>
          <p:nvPr/>
        </p:nvGrpSpPr>
        <p:grpSpPr>
          <a:xfrm>
            <a:off x="1429856" y="2925664"/>
            <a:ext cx="274306" cy="274306"/>
            <a:chOff x="3724323" y="1908536"/>
            <a:chExt cx="1329153" cy="1329153"/>
          </a:xfrm>
        </p:grpSpPr>
        <p:sp>
          <p:nvSpPr>
            <p:cNvPr id="26" name="椭圆 25"/>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7" name="椭圆 26"/>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31" name="组合 30"/>
          <p:cNvGrpSpPr/>
          <p:nvPr/>
        </p:nvGrpSpPr>
        <p:grpSpPr>
          <a:xfrm>
            <a:off x="1546559" y="3430847"/>
            <a:ext cx="780545" cy="780545"/>
            <a:chOff x="3724323" y="1908536"/>
            <a:chExt cx="1329153" cy="1329153"/>
          </a:xfrm>
          <a:solidFill>
            <a:srgbClr val="92D050"/>
          </a:solidFill>
        </p:grpSpPr>
        <p:sp>
          <p:nvSpPr>
            <p:cNvPr id="32" name="椭圆 31"/>
            <p:cNvSpPr/>
            <p:nvPr/>
          </p:nvSpPr>
          <p:spPr>
            <a:xfrm>
              <a:off x="3724323" y="1908536"/>
              <a:ext cx="1329153" cy="1329153"/>
            </a:xfrm>
            <a:prstGeom prst="ellipse">
              <a:avLst/>
            </a:prstGeom>
            <a:solidFill>
              <a:schemeClr val="bg1"/>
            </a:soli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3" name="椭圆 32"/>
            <p:cNvSpPr/>
            <p:nvPr/>
          </p:nvSpPr>
          <p:spPr>
            <a:xfrm>
              <a:off x="3845559" y="2031397"/>
              <a:ext cx="1098122" cy="1098122"/>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34" name="组合 33"/>
          <p:cNvGrpSpPr/>
          <p:nvPr/>
        </p:nvGrpSpPr>
        <p:grpSpPr>
          <a:xfrm>
            <a:off x="337342" y="3228871"/>
            <a:ext cx="560871" cy="560871"/>
            <a:chOff x="3724323" y="1908536"/>
            <a:chExt cx="1329153" cy="1329153"/>
          </a:xfrm>
        </p:grpSpPr>
        <p:sp>
          <p:nvSpPr>
            <p:cNvPr id="35" name="椭圆 34"/>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6" name="椭圆 35"/>
            <p:cNvSpPr/>
            <p:nvPr/>
          </p:nvSpPr>
          <p:spPr>
            <a:xfrm>
              <a:off x="3839838" y="2024052"/>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sp>
        <p:nvSpPr>
          <p:cNvPr id="45" name="文本框 9"/>
          <p:cNvSpPr txBox="1"/>
          <p:nvPr/>
        </p:nvSpPr>
        <p:spPr>
          <a:xfrm>
            <a:off x="1209154" y="236070"/>
            <a:ext cx="6169142" cy="605922"/>
          </a:xfrm>
          <a:prstGeom prst="rect">
            <a:avLst/>
          </a:prstGeom>
          <a:noFill/>
        </p:spPr>
        <p:txBody>
          <a:bodyPr wrap="square" lIns="51422" tIns="25711" rIns="51422" bIns="25711" rtlCol="0">
            <a:spAutoFit/>
          </a:bodyPr>
          <a:lstStyle/>
          <a:p>
            <a:pPr marL="0" lvl="1" algn="ctr"/>
            <a:r>
              <a:rPr lang="en-US" altLang="zh-CN" sz="3600" b="1" dirty="0">
                <a:solidFill>
                  <a:srgbClr val="663A77"/>
                </a:solidFill>
                <a:latin typeface="微软雅黑" panose="020B0503020204020204" pitchFamily="34" charset="-122"/>
                <a:ea typeface="微软雅黑" panose="020B0503020204020204" pitchFamily="34" charset="-122"/>
              </a:rPr>
              <a:t>OBJECTIVE</a:t>
            </a:r>
            <a:endParaRPr lang="zh-CN" altLang="en-US" sz="1400" dirty="0">
              <a:solidFill>
                <a:srgbClr val="663A77"/>
              </a:solidFill>
              <a:latin typeface="微软雅黑" panose="020B0503020204020204" pitchFamily="34" charset="-122"/>
              <a:ea typeface="微软雅黑" panose="020B0503020204020204" pitchFamily="34" charset="-122"/>
            </a:endParaRPr>
          </a:p>
        </p:txBody>
      </p:sp>
      <p:sp>
        <p:nvSpPr>
          <p:cNvPr id="2" name="TextBox 1">
            <a:extLst>
              <a:ext uri="{FF2B5EF4-FFF2-40B4-BE49-F238E27FC236}">
                <a16:creationId xmlns:a16="http://schemas.microsoft.com/office/drawing/2014/main" id="{B56A3F13-68DD-CA20-3122-E13712CE809D}"/>
              </a:ext>
            </a:extLst>
          </p:cNvPr>
          <p:cNvSpPr txBox="1"/>
          <p:nvPr/>
        </p:nvSpPr>
        <p:spPr>
          <a:xfrm>
            <a:off x="1103561" y="1881505"/>
            <a:ext cx="7104664" cy="1015663"/>
          </a:xfrm>
          <a:prstGeom prst="rect">
            <a:avLst/>
          </a:prstGeom>
          <a:noFill/>
        </p:spPr>
        <p:txBody>
          <a:bodyPr wrap="square" rtlCol="0">
            <a:spAutoFit/>
          </a:bodyPr>
          <a:lstStyle/>
          <a:p>
            <a:r>
              <a:rPr lang="en-US" sz="2000" b="1" dirty="0">
                <a:solidFill>
                  <a:schemeClr val="accent4">
                    <a:lumMod val="50000"/>
                  </a:schemeClr>
                </a:solidFill>
                <a:effectLst/>
                <a:latin typeface="Consolas" panose="020B0609020204030204" pitchFamily="49" charset="0"/>
              </a:rPr>
              <a:t>Provide actionable insights for increasing sales at the UK Retail Store through analysis of its historical sales data </a:t>
            </a:r>
            <a:endParaRPr lang="en-US" sz="2000" dirty="0"/>
          </a:p>
        </p:txBody>
      </p:sp>
    </p:spTree>
    <p:extLst>
      <p:ext uri="{BB962C8B-B14F-4D97-AF65-F5344CB8AC3E}">
        <p14:creationId xmlns:p14="http://schemas.microsoft.com/office/powerpoint/2010/main" val="3859493790"/>
      </p:ext>
    </p:extLst>
  </p:cSld>
  <p:clrMapOvr>
    <a:masterClrMapping/>
  </p:clrMapOvr>
  <p:transition spd="slow" advClick="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2841550" y="888119"/>
            <a:ext cx="2073230" cy="2584156"/>
            <a:chOff x="3295850" y="1908877"/>
            <a:chExt cx="3738030" cy="4660916"/>
          </a:xfrm>
        </p:grpSpPr>
        <p:sp>
          <p:nvSpPr>
            <p:cNvPr id="91" name="圆角矩形 90"/>
            <p:cNvSpPr/>
            <p:nvPr/>
          </p:nvSpPr>
          <p:spPr>
            <a:xfrm rot="2760000">
              <a:off x="3098889" y="2634801"/>
              <a:ext cx="4660916" cy="3209067"/>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92" name="Freeform 5"/>
            <p:cNvSpPr>
              <a:spLocks/>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93" name="圆角矩形 92"/>
            <p:cNvSpPr/>
            <p:nvPr/>
          </p:nvSpPr>
          <p:spPr>
            <a:xfrm rot="2760000">
              <a:off x="3358628" y="2852802"/>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solidFill>
                  <a:prstClr val="white"/>
                </a:solidFill>
              </a:endParaRPr>
            </a:p>
          </p:txBody>
        </p:sp>
        <p:sp>
          <p:nvSpPr>
            <p:cNvPr id="94" name="Freeform 5"/>
            <p:cNvSpPr>
              <a:spLocks/>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92D050"/>
            </a:solidFill>
            <a:ln w="25400">
              <a:noFill/>
            </a:ln>
            <a:effectLst>
              <a:outerShdw blurRad="254000" dist="114300" dir="2700000" algn="tl" rotWithShape="0">
                <a:prstClr val="black">
                  <a:alpha val="25000"/>
                </a:prstClr>
              </a:outerShdw>
            </a:effectLst>
          </p:spPr>
          <p:txBody>
            <a:bodyPr vert="horz" wrap="square" lIns="68580" tIns="34290" rIns="68580" bIns="34290" numCol="1" anchor="t" anchorCtr="0" compatLnSpc="1">
              <a:prstTxWarp prst="textNoShape">
                <a:avLst/>
              </a:prstTxWarp>
            </a:bodyPr>
            <a:lstStyle/>
            <a:p>
              <a:endParaRPr lang="zh-CN" altLang="en-US" sz="1013" dirty="0">
                <a:solidFill>
                  <a:prstClr val="black"/>
                </a:solidFill>
              </a:endParaRPr>
            </a:p>
          </p:txBody>
        </p:sp>
      </p:grpSp>
      <p:grpSp>
        <p:nvGrpSpPr>
          <p:cNvPr id="95" name="组合 94"/>
          <p:cNvGrpSpPr/>
          <p:nvPr/>
        </p:nvGrpSpPr>
        <p:grpSpPr>
          <a:xfrm>
            <a:off x="3802058" y="2904712"/>
            <a:ext cx="2066086" cy="2584156"/>
            <a:chOff x="3885937" y="2769115"/>
            <a:chExt cx="2754422" cy="3446339"/>
          </a:xfrm>
        </p:grpSpPr>
        <p:grpSp>
          <p:nvGrpSpPr>
            <p:cNvPr id="96" name="组合 95"/>
            <p:cNvGrpSpPr/>
            <p:nvPr/>
          </p:nvGrpSpPr>
          <p:grpSpPr>
            <a:xfrm>
              <a:off x="3885937" y="2769115"/>
              <a:ext cx="2754422" cy="3446339"/>
              <a:chOff x="3295850" y="1895995"/>
              <a:chExt cx="3725149" cy="4660916"/>
            </a:xfrm>
          </p:grpSpPr>
          <p:sp>
            <p:nvSpPr>
              <p:cNvPr id="100" name="圆角矩形 99"/>
              <p:cNvSpPr/>
              <p:nvPr/>
            </p:nvSpPr>
            <p:spPr>
              <a:xfrm rot="2760000">
                <a:off x="3086007" y="2621919"/>
                <a:ext cx="4660916" cy="3209068"/>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01" name="Freeform 5"/>
              <p:cNvSpPr>
                <a:spLocks/>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02" name="圆角矩形 101"/>
              <p:cNvSpPr/>
              <p:nvPr/>
            </p:nvSpPr>
            <p:spPr>
              <a:xfrm rot="2760000">
                <a:off x="3384391" y="2878566"/>
                <a:ext cx="3953506" cy="2592561"/>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03" name="Freeform 5"/>
              <p:cNvSpPr>
                <a:spLocks/>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1">
                  <a:lumMod val="65000"/>
                  <a:lumOff val="35000"/>
                </a:schemeClr>
              </a:solidFill>
              <a:ln w="25400">
                <a:noFill/>
              </a:ln>
              <a:effectLst>
                <a:outerShdw blurRad="254000" dist="114300" dir="2700000" algn="tl" rotWithShape="0">
                  <a:prstClr val="black">
                    <a:alpha val="25000"/>
                  </a:prstClr>
                </a:outerShdw>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98" name="文本框 32"/>
            <p:cNvSpPr txBox="1"/>
            <p:nvPr/>
          </p:nvSpPr>
          <p:spPr>
            <a:xfrm>
              <a:off x="4352303" y="3465304"/>
              <a:ext cx="1031437" cy="861974"/>
            </a:xfrm>
            <a:prstGeom prst="rect">
              <a:avLst/>
            </a:prstGeom>
            <a:noFill/>
          </p:spPr>
          <p:txBody>
            <a:bodyPr wrap="square" rtlCol="0">
              <a:spAutoFit/>
            </a:bodyPr>
            <a:lstStyle/>
            <a:p>
              <a:pPr algn="ctr"/>
              <a:endParaRPr lang="zh-CN" altLang="en-US" sz="3600" dirty="0">
                <a:solidFill>
                  <a:prstClr val="white"/>
                </a:solidFill>
                <a:latin typeface="Impact" panose="020B0806030902050204" pitchFamily="34" charset="0"/>
              </a:endParaRPr>
            </a:p>
          </p:txBody>
        </p:sp>
      </p:grpSp>
      <p:grpSp>
        <p:nvGrpSpPr>
          <p:cNvPr id="104" name="组合 103"/>
          <p:cNvGrpSpPr/>
          <p:nvPr/>
        </p:nvGrpSpPr>
        <p:grpSpPr>
          <a:xfrm>
            <a:off x="4758249" y="878688"/>
            <a:ext cx="2066086" cy="2584156"/>
            <a:chOff x="5489223" y="1837839"/>
            <a:chExt cx="2754422" cy="3446339"/>
          </a:xfrm>
        </p:grpSpPr>
        <p:grpSp>
          <p:nvGrpSpPr>
            <p:cNvPr id="105" name="组合 104"/>
            <p:cNvGrpSpPr/>
            <p:nvPr/>
          </p:nvGrpSpPr>
          <p:grpSpPr>
            <a:xfrm>
              <a:off x="5489223" y="1837839"/>
              <a:ext cx="2754422" cy="3446339"/>
              <a:chOff x="3295850" y="1895995"/>
              <a:chExt cx="3725149" cy="4660916"/>
            </a:xfrm>
          </p:grpSpPr>
          <p:sp>
            <p:nvSpPr>
              <p:cNvPr id="109" name="圆角矩形 108"/>
              <p:cNvSpPr/>
              <p:nvPr/>
            </p:nvSpPr>
            <p:spPr>
              <a:xfrm rot="2760000">
                <a:off x="3086007" y="2621919"/>
                <a:ext cx="4660916" cy="3209068"/>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dirty="0">
                  <a:solidFill>
                    <a:prstClr val="white"/>
                  </a:solidFill>
                </a:endParaRPr>
              </a:p>
            </p:txBody>
          </p:sp>
          <p:sp>
            <p:nvSpPr>
              <p:cNvPr id="110" name="Freeform 5"/>
              <p:cNvSpPr>
                <a:spLocks/>
              </p:cNvSpPr>
              <p:nvPr/>
            </p:nvSpPr>
            <p:spPr bwMode="auto">
              <a:xfrm rot="10800000">
                <a:off x="3295850" y="2263222"/>
                <a:ext cx="2643765" cy="234315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gs>
                  <a:gs pos="73000">
                    <a:srgbClr val="ECECEC"/>
                  </a:gs>
                  <a:gs pos="100000">
                    <a:srgbClr val="D9D9D9"/>
                  </a:gs>
                </a:gsLst>
                <a:lin ang="2700000" scaled="1"/>
                <a:tileRect/>
              </a:gradFill>
              <a:ln w="25400">
                <a:gradFill flip="none" rotWithShape="1">
                  <a:gsLst>
                    <a:gs pos="29000">
                      <a:srgbClr val="E0E0E0"/>
                    </a:gs>
                    <a:gs pos="0">
                      <a:srgbClr val="999999"/>
                    </a:gs>
                    <a:gs pos="83000">
                      <a:schemeClr val="bg1"/>
                    </a:gs>
                  </a:gsLst>
                  <a:lin ang="2700000" scaled="1"/>
                  <a:tileRect/>
                </a:gradFill>
              </a:ln>
              <a:effectLst>
                <a:outerShdw blurRad="355600" dist="88900" dir="2700000" algn="tl" rotWithShape="0">
                  <a:prstClr val="black">
                    <a:alpha val="28000"/>
                  </a:prstClr>
                </a:outerShdw>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11" name="圆角矩形 110"/>
              <p:cNvSpPr/>
              <p:nvPr/>
            </p:nvSpPr>
            <p:spPr>
              <a:xfrm rot="2760000">
                <a:off x="3371509" y="2878565"/>
                <a:ext cx="3953504" cy="2592562"/>
              </a:xfrm>
              <a:prstGeom prst="roundRect">
                <a:avLst>
                  <a:gd name="adj" fmla="val 50000"/>
                </a:avLst>
              </a:prstGeom>
              <a:gradFill>
                <a:gsLst>
                  <a:gs pos="37000">
                    <a:srgbClr val="6C6C6C">
                      <a:alpha val="50000"/>
                    </a:srgbClr>
                  </a:gs>
                  <a:gs pos="0">
                    <a:schemeClr val="tx1">
                      <a:alpha val="61000"/>
                    </a:schemeClr>
                  </a:gs>
                  <a:gs pos="100000">
                    <a:srgbClr val="D8D8D8">
                      <a:alpha val="0"/>
                    </a:srgbClr>
                  </a:gs>
                </a:gsLst>
                <a:lin ang="0" scaled="0"/>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12" name="Freeform 5"/>
              <p:cNvSpPr>
                <a:spLocks/>
              </p:cNvSpPr>
              <p:nvPr/>
            </p:nvSpPr>
            <p:spPr bwMode="auto">
              <a:xfrm rot="10800000">
                <a:off x="3589408" y="2523401"/>
                <a:ext cx="2056648" cy="1822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25400">
                <a:noFill/>
              </a:ln>
              <a:effectLst>
                <a:outerShdw blurRad="254000" dist="114300" dir="2700000" algn="tl" rotWithShape="0">
                  <a:prstClr val="black">
                    <a:alpha val="25000"/>
                  </a:prstClr>
                </a:outerShdw>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sp>
          <p:nvSpPr>
            <p:cNvPr id="107" name="文本框 35"/>
            <p:cNvSpPr txBox="1"/>
            <p:nvPr/>
          </p:nvSpPr>
          <p:spPr>
            <a:xfrm>
              <a:off x="5937545" y="2560310"/>
              <a:ext cx="1031437" cy="861974"/>
            </a:xfrm>
            <a:prstGeom prst="rect">
              <a:avLst/>
            </a:prstGeom>
            <a:noFill/>
            <a:ln>
              <a:noFill/>
            </a:ln>
          </p:spPr>
          <p:txBody>
            <a:bodyPr wrap="square" rtlCol="0">
              <a:spAutoFit/>
            </a:bodyPr>
            <a:lstStyle/>
            <a:p>
              <a:pPr algn="ctr"/>
              <a:endParaRPr lang="zh-CN" altLang="en-US" sz="3600" dirty="0">
                <a:solidFill>
                  <a:prstClr val="white"/>
                </a:solidFill>
                <a:latin typeface="Impact" panose="020B0806030902050204" pitchFamily="34" charset="0"/>
              </a:endParaRPr>
            </a:p>
          </p:txBody>
        </p:sp>
      </p:grpSp>
      <p:grpSp>
        <p:nvGrpSpPr>
          <p:cNvPr id="122" name="组合 121"/>
          <p:cNvGrpSpPr/>
          <p:nvPr/>
        </p:nvGrpSpPr>
        <p:grpSpPr>
          <a:xfrm flipV="1">
            <a:off x="6117763" y="1109314"/>
            <a:ext cx="2247636" cy="662907"/>
            <a:chOff x="5246304" y="4593021"/>
            <a:chExt cx="2996458" cy="884081"/>
          </a:xfrm>
        </p:grpSpPr>
        <p:sp>
          <p:nvSpPr>
            <p:cNvPr id="123" name="椭圆 122"/>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24" name="任意多边形 123"/>
            <p:cNvSpPr/>
            <p:nvPr/>
          </p:nvSpPr>
          <p:spPr>
            <a:xfrm>
              <a:off x="5335428" y="4686869"/>
              <a:ext cx="2907334" cy="790233"/>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grpSp>
      <p:grpSp>
        <p:nvGrpSpPr>
          <p:cNvPr id="125" name="组合 124"/>
          <p:cNvGrpSpPr/>
          <p:nvPr/>
        </p:nvGrpSpPr>
        <p:grpSpPr>
          <a:xfrm flipH="1" flipV="1">
            <a:off x="738573" y="1123784"/>
            <a:ext cx="2205848" cy="651554"/>
            <a:chOff x="5246304" y="4593021"/>
            <a:chExt cx="2940749" cy="868939"/>
          </a:xfrm>
        </p:grpSpPr>
        <p:sp>
          <p:nvSpPr>
            <p:cNvPr id="126" name="椭圆 125"/>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27" name="任意多边形 126"/>
            <p:cNvSpPr/>
            <p:nvPr/>
          </p:nvSpPr>
          <p:spPr>
            <a:xfrm>
              <a:off x="5335430" y="4686869"/>
              <a:ext cx="2851623" cy="775091"/>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grpSp>
      <p:sp>
        <p:nvSpPr>
          <p:cNvPr id="130" name="文本框 96"/>
          <p:cNvSpPr txBox="1"/>
          <p:nvPr/>
        </p:nvSpPr>
        <p:spPr>
          <a:xfrm>
            <a:off x="307447" y="1088040"/>
            <a:ext cx="1224919" cy="276999"/>
          </a:xfrm>
          <a:prstGeom prst="rect">
            <a:avLst/>
          </a:prstGeom>
          <a:noFill/>
        </p:spPr>
        <p:txBody>
          <a:bodyPr wrap="square" rtlCol="0">
            <a:spAutoFit/>
          </a:bodyPr>
          <a:lstStyle/>
          <a:p>
            <a:r>
              <a:rPr lang="en-US" altLang="zh-CN" sz="1200" b="1" dirty="0">
                <a:solidFill>
                  <a:srgbClr val="FFB850"/>
                </a:solidFill>
                <a:latin typeface="微软雅黑" panose="020B0503020204020204" pitchFamily="34" charset="-122"/>
                <a:ea typeface="微软雅黑" panose="020B0503020204020204" pitchFamily="34" charset="-122"/>
              </a:rPr>
              <a:t>     Client</a:t>
            </a:r>
            <a:endParaRPr lang="zh-CN" altLang="en-US" sz="1200" b="1" dirty="0">
              <a:solidFill>
                <a:srgbClr val="FFB850"/>
              </a:solidFill>
              <a:latin typeface="微软雅黑" panose="020B0503020204020204" pitchFamily="34" charset="-122"/>
              <a:ea typeface="微软雅黑" panose="020B0503020204020204" pitchFamily="34" charset="-122"/>
            </a:endParaRPr>
          </a:p>
        </p:txBody>
      </p:sp>
      <p:grpSp>
        <p:nvGrpSpPr>
          <p:cNvPr id="151" name="组合 150"/>
          <p:cNvGrpSpPr/>
          <p:nvPr/>
        </p:nvGrpSpPr>
        <p:grpSpPr>
          <a:xfrm>
            <a:off x="502197" y="3727083"/>
            <a:ext cx="2138995" cy="676412"/>
            <a:chOff x="-205021" y="4699347"/>
            <a:chExt cx="2851622" cy="902090"/>
          </a:xfrm>
        </p:grpSpPr>
        <p:sp>
          <p:nvSpPr>
            <p:cNvPr id="156" name="Freeform 23"/>
            <p:cNvSpPr>
              <a:spLocks noEditPoints="1"/>
            </p:cNvSpPr>
            <p:nvPr/>
          </p:nvSpPr>
          <p:spPr bwMode="auto">
            <a:xfrm>
              <a:off x="1719588" y="4699347"/>
              <a:ext cx="58882" cy="58882"/>
            </a:xfrm>
            <a:custGeom>
              <a:avLst/>
              <a:gdLst>
                <a:gd name="T0" fmla="*/ 5 w 5"/>
                <a:gd name="T1" fmla="*/ 3 h 5"/>
                <a:gd name="T2" fmla="*/ 5 w 5"/>
                <a:gd name="T3" fmla="*/ 2 h 5"/>
                <a:gd name="T4" fmla="*/ 5 w 5"/>
                <a:gd name="T5" fmla="*/ 2 h 5"/>
                <a:gd name="T6" fmla="*/ 4 w 5"/>
                <a:gd name="T7" fmla="*/ 1 h 5"/>
                <a:gd name="T8" fmla="*/ 5 w 5"/>
                <a:gd name="T9" fmla="*/ 1 h 5"/>
                <a:gd name="T10" fmla="*/ 4 w 5"/>
                <a:gd name="T11" fmla="*/ 1 h 5"/>
                <a:gd name="T12" fmla="*/ 4 w 5"/>
                <a:gd name="T13" fmla="*/ 1 h 5"/>
                <a:gd name="T14" fmla="*/ 3 w 5"/>
                <a:gd name="T15" fmla="*/ 1 h 5"/>
                <a:gd name="T16" fmla="*/ 3 w 5"/>
                <a:gd name="T17" fmla="*/ 0 h 5"/>
                <a:gd name="T18" fmla="*/ 2 w 5"/>
                <a:gd name="T19" fmla="*/ 0 h 5"/>
                <a:gd name="T20" fmla="*/ 2 w 5"/>
                <a:gd name="T21" fmla="*/ 1 h 5"/>
                <a:gd name="T22" fmla="*/ 1 w 5"/>
                <a:gd name="T23" fmla="*/ 1 h 5"/>
                <a:gd name="T24" fmla="*/ 1 w 5"/>
                <a:gd name="T25" fmla="*/ 1 h 5"/>
                <a:gd name="T26" fmla="*/ 1 w 5"/>
                <a:gd name="T27" fmla="*/ 1 h 5"/>
                <a:gd name="T28" fmla="*/ 1 w 5"/>
                <a:gd name="T29" fmla="*/ 1 h 5"/>
                <a:gd name="T30" fmla="*/ 1 w 5"/>
                <a:gd name="T31" fmla="*/ 2 h 5"/>
                <a:gd name="T32" fmla="*/ 0 w 5"/>
                <a:gd name="T33" fmla="*/ 2 h 5"/>
                <a:gd name="T34" fmla="*/ 0 w 5"/>
                <a:gd name="T35" fmla="*/ 3 h 5"/>
                <a:gd name="T36" fmla="*/ 1 w 5"/>
                <a:gd name="T37" fmla="*/ 3 h 5"/>
                <a:gd name="T38" fmla="*/ 1 w 5"/>
                <a:gd name="T39" fmla="*/ 4 h 5"/>
                <a:gd name="T40" fmla="*/ 1 w 5"/>
                <a:gd name="T41" fmla="*/ 4 h 5"/>
                <a:gd name="T42" fmla="*/ 1 w 5"/>
                <a:gd name="T43" fmla="*/ 5 h 5"/>
                <a:gd name="T44" fmla="*/ 1 w 5"/>
                <a:gd name="T45" fmla="*/ 4 h 5"/>
                <a:gd name="T46" fmla="*/ 2 w 5"/>
                <a:gd name="T47" fmla="*/ 5 h 5"/>
                <a:gd name="T48" fmla="*/ 2 w 5"/>
                <a:gd name="T49" fmla="*/ 5 h 5"/>
                <a:gd name="T50" fmla="*/ 3 w 5"/>
                <a:gd name="T51" fmla="*/ 5 h 5"/>
                <a:gd name="T52" fmla="*/ 3 w 5"/>
                <a:gd name="T53" fmla="*/ 5 h 5"/>
                <a:gd name="T54" fmla="*/ 4 w 5"/>
                <a:gd name="T55" fmla="*/ 4 h 5"/>
                <a:gd name="T56" fmla="*/ 4 w 5"/>
                <a:gd name="T57" fmla="*/ 5 h 5"/>
                <a:gd name="T58" fmla="*/ 5 w 5"/>
                <a:gd name="T59" fmla="*/ 4 h 5"/>
                <a:gd name="T60" fmla="*/ 4 w 5"/>
                <a:gd name="T61" fmla="*/ 4 h 5"/>
                <a:gd name="T62" fmla="*/ 5 w 5"/>
                <a:gd name="T63" fmla="*/ 3 h 5"/>
                <a:gd name="T64" fmla="*/ 4 w 5"/>
                <a:gd name="T65" fmla="*/ 3 h 5"/>
                <a:gd name="T66" fmla="*/ 3 w 5"/>
                <a:gd name="T67" fmla="*/ 4 h 5"/>
                <a:gd name="T68" fmla="*/ 1 w 5"/>
                <a:gd name="T69" fmla="*/ 3 h 5"/>
                <a:gd name="T70" fmla="*/ 3 w 5"/>
                <a:gd name="T71" fmla="*/ 1 h 5"/>
                <a:gd name="T72" fmla="*/ 4 w 5"/>
                <a:gd name="T73"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 h="5">
                  <a:moveTo>
                    <a:pt x="5" y="3"/>
                  </a:moveTo>
                  <a:cubicBezTo>
                    <a:pt x="5" y="2"/>
                    <a:pt x="5" y="2"/>
                    <a:pt x="5" y="2"/>
                  </a:cubicBezTo>
                  <a:cubicBezTo>
                    <a:pt x="5" y="2"/>
                    <a:pt x="5" y="2"/>
                    <a:pt x="5" y="2"/>
                  </a:cubicBezTo>
                  <a:cubicBezTo>
                    <a:pt x="5" y="2"/>
                    <a:pt x="4" y="2"/>
                    <a:pt x="4" y="1"/>
                  </a:cubicBezTo>
                  <a:cubicBezTo>
                    <a:pt x="5" y="1"/>
                    <a:pt x="5" y="1"/>
                    <a:pt x="5" y="1"/>
                  </a:cubicBezTo>
                  <a:cubicBezTo>
                    <a:pt x="4" y="1"/>
                    <a:pt x="4" y="1"/>
                    <a:pt x="4" y="1"/>
                  </a:cubicBezTo>
                  <a:cubicBezTo>
                    <a:pt x="4" y="1"/>
                    <a:pt x="4" y="1"/>
                    <a:pt x="4" y="1"/>
                  </a:cubicBezTo>
                  <a:cubicBezTo>
                    <a:pt x="4" y="1"/>
                    <a:pt x="3" y="1"/>
                    <a:pt x="3" y="1"/>
                  </a:cubicBezTo>
                  <a:cubicBezTo>
                    <a:pt x="3" y="0"/>
                    <a:pt x="3" y="0"/>
                    <a:pt x="3" y="0"/>
                  </a:cubicBezTo>
                  <a:cubicBezTo>
                    <a:pt x="2" y="0"/>
                    <a:pt x="2" y="0"/>
                    <a:pt x="2" y="0"/>
                  </a:cubicBezTo>
                  <a:cubicBezTo>
                    <a:pt x="2" y="1"/>
                    <a:pt x="2" y="1"/>
                    <a:pt x="2" y="1"/>
                  </a:cubicBezTo>
                  <a:cubicBezTo>
                    <a:pt x="2" y="1"/>
                    <a:pt x="2" y="1"/>
                    <a:pt x="1" y="1"/>
                  </a:cubicBezTo>
                  <a:cubicBezTo>
                    <a:pt x="1" y="1"/>
                    <a:pt x="1" y="1"/>
                    <a:pt x="1" y="1"/>
                  </a:cubicBezTo>
                  <a:cubicBezTo>
                    <a:pt x="1" y="1"/>
                    <a:pt x="1" y="1"/>
                    <a:pt x="1" y="1"/>
                  </a:cubicBezTo>
                  <a:cubicBezTo>
                    <a:pt x="1" y="1"/>
                    <a:pt x="1" y="1"/>
                    <a:pt x="1" y="1"/>
                  </a:cubicBezTo>
                  <a:cubicBezTo>
                    <a:pt x="1" y="2"/>
                    <a:pt x="1" y="2"/>
                    <a:pt x="1" y="2"/>
                  </a:cubicBezTo>
                  <a:cubicBezTo>
                    <a:pt x="0" y="2"/>
                    <a:pt x="0" y="2"/>
                    <a:pt x="0" y="2"/>
                  </a:cubicBezTo>
                  <a:cubicBezTo>
                    <a:pt x="0" y="3"/>
                    <a:pt x="0" y="3"/>
                    <a:pt x="0" y="3"/>
                  </a:cubicBezTo>
                  <a:cubicBezTo>
                    <a:pt x="1" y="3"/>
                    <a:pt x="1" y="3"/>
                    <a:pt x="1" y="3"/>
                  </a:cubicBezTo>
                  <a:cubicBezTo>
                    <a:pt x="1" y="3"/>
                    <a:pt x="1" y="4"/>
                    <a:pt x="1" y="4"/>
                  </a:cubicBezTo>
                  <a:cubicBezTo>
                    <a:pt x="1" y="4"/>
                    <a:pt x="1" y="4"/>
                    <a:pt x="1" y="4"/>
                  </a:cubicBezTo>
                  <a:cubicBezTo>
                    <a:pt x="1" y="5"/>
                    <a:pt x="1" y="5"/>
                    <a:pt x="1" y="5"/>
                  </a:cubicBezTo>
                  <a:cubicBezTo>
                    <a:pt x="1" y="4"/>
                    <a:pt x="1" y="4"/>
                    <a:pt x="1" y="4"/>
                  </a:cubicBezTo>
                  <a:cubicBezTo>
                    <a:pt x="2" y="4"/>
                    <a:pt x="2" y="5"/>
                    <a:pt x="2" y="5"/>
                  </a:cubicBezTo>
                  <a:cubicBezTo>
                    <a:pt x="2" y="5"/>
                    <a:pt x="2" y="5"/>
                    <a:pt x="2" y="5"/>
                  </a:cubicBezTo>
                  <a:cubicBezTo>
                    <a:pt x="3" y="5"/>
                    <a:pt x="3" y="5"/>
                    <a:pt x="3" y="5"/>
                  </a:cubicBezTo>
                  <a:cubicBezTo>
                    <a:pt x="3" y="5"/>
                    <a:pt x="3" y="5"/>
                    <a:pt x="3" y="5"/>
                  </a:cubicBezTo>
                  <a:cubicBezTo>
                    <a:pt x="3" y="5"/>
                    <a:pt x="4" y="4"/>
                    <a:pt x="4" y="4"/>
                  </a:cubicBezTo>
                  <a:cubicBezTo>
                    <a:pt x="4" y="5"/>
                    <a:pt x="4" y="5"/>
                    <a:pt x="4" y="5"/>
                  </a:cubicBezTo>
                  <a:cubicBezTo>
                    <a:pt x="5" y="4"/>
                    <a:pt x="5" y="4"/>
                    <a:pt x="5" y="4"/>
                  </a:cubicBezTo>
                  <a:cubicBezTo>
                    <a:pt x="4" y="4"/>
                    <a:pt x="4" y="4"/>
                    <a:pt x="4" y="4"/>
                  </a:cubicBezTo>
                  <a:cubicBezTo>
                    <a:pt x="4" y="4"/>
                    <a:pt x="5" y="3"/>
                    <a:pt x="5" y="3"/>
                  </a:cubicBezTo>
                  <a:close/>
                  <a:moveTo>
                    <a:pt x="4" y="3"/>
                  </a:moveTo>
                  <a:cubicBezTo>
                    <a:pt x="4" y="3"/>
                    <a:pt x="3" y="4"/>
                    <a:pt x="3" y="4"/>
                  </a:cubicBezTo>
                  <a:cubicBezTo>
                    <a:pt x="2" y="4"/>
                    <a:pt x="1" y="3"/>
                    <a:pt x="1" y="3"/>
                  </a:cubicBezTo>
                  <a:cubicBezTo>
                    <a:pt x="1" y="2"/>
                    <a:pt x="2" y="1"/>
                    <a:pt x="3" y="1"/>
                  </a:cubicBezTo>
                  <a:cubicBezTo>
                    <a:pt x="3" y="1"/>
                    <a:pt x="4" y="2"/>
                    <a:pt x="4" y="3"/>
                  </a:cubicBezTo>
                  <a:close/>
                </a:path>
              </a:pathLst>
            </a:custGeom>
            <a:solidFill>
              <a:srgbClr val="01AC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53" name="文本框 100"/>
            <p:cNvSpPr txBox="1"/>
            <p:nvPr/>
          </p:nvSpPr>
          <p:spPr>
            <a:xfrm>
              <a:off x="-205021" y="4985742"/>
              <a:ext cx="2851622" cy="615695"/>
            </a:xfrm>
            <a:prstGeom prst="rect">
              <a:avLst/>
            </a:prstGeom>
            <a:noFill/>
          </p:spPr>
          <p:txBody>
            <a:bodyPr wrap="square" rtlCol="0">
              <a:spAutoFit/>
            </a:bodyPr>
            <a:lstStyle/>
            <a:p>
              <a:r>
                <a:rPr lang="en-US" altLang="zh-CN" sz="1200" b="1" dirty="0">
                  <a:solidFill>
                    <a:srgbClr val="92D050"/>
                  </a:solidFill>
                  <a:latin typeface="微软雅黑" panose="020B0503020204020204" pitchFamily="34" charset="-122"/>
                  <a:ea typeface="微软雅黑" panose="020B0503020204020204" pitchFamily="34" charset="-122"/>
                </a:rPr>
                <a:t>Duration</a:t>
              </a:r>
              <a:endParaRPr lang="zh-CN" altLang="en-US" sz="1200" b="1" dirty="0">
                <a:solidFill>
                  <a:srgbClr val="92D050"/>
                </a:solidFill>
                <a:latin typeface="微软雅黑" panose="020B0503020204020204" pitchFamily="34" charset="-122"/>
                <a:ea typeface="微软雅黑" panose="020B0503020204020204" pitchFamily="34" charset="-122"/>
              </a:endParaRPr>
            </a:p>
            <a:p>
              <a:endParaRPr lang="zh-CN" altLang="en-US" sz="1200" b="1" dirty="0">
                <a:solidFill>
                  <a:srgbClr val="01ACBE"/>
                </a:solidFill>
                <a:latin typeface="微软雅黑" panose="020B0503020204020204" pitchFamily="34" charset="-122"/>
                <a:ea typeface="微软雅黑" panose="020B0503020204020204" pitchFamily="34" charset="-122"/>
              </a:endParaRPr>
            </a:p>
          </p:txBody>
        </p:sp>
      </p:grpSp>
      <p:grpSp>
        <p:nvGrpSpPr>
          <p:cNvPr id="158" name="组合 157"/>
          <p:cNvGrpSpPr/>
          <p:nvPr/>
        </p:nvGrpSpPr>
        <p:grpSpPr>
          <a:xfrm>
            <a:off x="6959736" y="1132384"/>
            <a:ext cx="1500696" cy="276999"/>
            <a:chOff x="9071096" y="1629594"/>
            <a:chExt cx="2000668" cy="369417"/>
          </a:xfrm>
        </p:grpSpPr>
        <p:sp>
          <p:nvSpPr>
            <p:cNvPr id="162" name="Freeform 15"/>
            <p:cNvSpPr>
              <a:spLocks/>
            </p:cNvSpPr>
            <p:nvPr/>
          </p:nvSpPr>
          <p:spPr bwMode="auto">
            <a:xfrm>
              <a:off x="9071096" y="1789903"/>
              <a:ext cx="13588" cy="13588"/>
            </a:xfrm>
            <a:custGeom>
              <a:avLst/>
              <a:gdLst>
                <a:gd name="T0" fmla="*/ 0 w 1"/>
                <a:gd name="T1" fmla="*/ 0 h 1"/>
                <a:gd name="T2" fmla="*/ 0 w 1"/>
                <a:gd name="T3" fmla="*/ 0 h 1"/>
                <a:gd name="T4" fmla="*/ 0 w 1"/>
                <a:gd name="T5" fmla="*/ 1 h 1"/>
                <a:gd name="T6" fmla="*/ 0 w 1"/>
                <a:gd name="T7" fmla="*/ 1 h 1"/>
                <a:gd name="T8" fmla="*/ 0 w 1"/>
                <a:gd name="T9" fmla="*/ 1 h 1"/>
                <a:gd name="T10" fmla="*/ 1 w 1"/>
                <a:gd name="T11" fmla="*/ 1 h 1"/>
                <a:gd name="T12" fmla="*/ 1 w 1"/>
                <a:gd name="T13" fmla="*/ 0 h 1"/>
                <a:gd name="T14" fmla="*/ 0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0" y="0"/>
                  </a:moveTo>
                  <a:cubicBezTo>
                    <a:pt x="0" y="0"/>
                    <a:pt x="0" y="0"/>
                    <a:pt x="0" y="0"/>
                  </a:cubicBezTo>
                  <a:cubicBezTo>
                    <a:pt x="0" y="1"/>
                    <a:pt x="0" y="1"/>
                    <a:pt x="0" y="1"/>
                  </a:cubicBezTo>
                  <a:cubicBezTo>
                    <a:pt x="0" y="1"/>
                    <a:pt x="0" y="1"/>
                    <a:pt x="0" y="1"/>
                  </a:cubicBezTo>
                  <a:cubicBezTo>
                    <a:pt x="0" y="1"/>
                    <a:pt x="0" y="1"/>
                    <a:pt x="0" y="1"/>
                  </a:cubicBezTo>
                  <a:cubicBezTo>
                    <a:pt x="1" y="1"/>
                    <a:pt x="1" y="1"/>
                    <a:pt x="1" y="1"/>
                  </a:cubicBezTo>
                  <a:cubicBezTo>
                    <a:pt x="1" y="0"/>
                    <a:pt x="1" y="0"/>
                    <a:pt x="1" y="0"/>
                  </a:cubicBezTo>
                  <a:cubicBezTo>
                    <a:pt x="1" y="0"/>
                    <a:pt x="1" y="0"/>
                    <a:pt x="0" y="0"/>
                  </a:cubicBezTo>
                  <a:close/>
                </a:path>
              </a:pathLst>
            </a:custGeom>
            <a:solidFill>
              <a:srgbClr val="E87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60" name="文本框 102"/>
            <p:cNvSpPr txBox="1"/>
            <p:nvPr/>
          </p:nvSpPr>
          <p:spPr>
            <a:xfrm>
              <a:off x="9281877" y="1629594"/>
              <a:ext cx="1789887" cy="369417"/>
            </a:xfrm>
            <a:prstGeom prst="rect">
              <a:avLst/>
            </a:prstGeom>
            <a:noFill/>
          </p:spPr>
          <p:txBody>
            <a:bodyPr wrap="square" rtlCol="0">
              <a:spAutoFit/>
            </a:bodyPr>
            <a:lstStyle/>
            <a:p>
              <a:r>
                <a:rPr lang="en-US" altLang="zh-CN" sz="1200" b="1" dirty="0">
                  <a:solidFill>
                    <a:srgbClr val="E87071"/>
                  </a:solidFill>
                  <a:latin typeface="微软雅黑" panose="020B0503020204020204" pitchFamily="34" charset="-122"/>
                  <a:ea typeface="微软雅黑" panose="020B0503020204020204" pitchFamily="34" charset="-122"/>
                </a:rPr>
                <a:t>Data</a:t>
              </a:r>
              <a:endParaRPr lang="zh-CN" altLang="en-US" sz="1200" b="1" dirty="0">
                <a:solidFill>
                  <a:srgbClr val="E87071"/>
                </a:solidFill>
                <a:latin typeface="微软雅黑" panose="020B0503020204020204" pitchFamily="34" charset="-122"/>
                <a:ea typeface="微软雅黑" panose="020B0503020204020204" pitchFamily="34" charset="-122"/>
              </a:endParaRPr>
            </a:p>
          </p:txBody>
        </p:sp>
      </p:grpSp>
      <p:sp>
        <p:nvSpPr>
          <p:cNvPr id="172" name="文本框 113"/>
          <p:cNvSpPr txBox="1"/>
          <p:nvPr/>
        </p:nvSpPr>
        <p:spPr>
          <a:xfrm>
            <a:off x="6974188" y="1512087"/>
            <a:ext cx="1645887" cy="887679"/>
          </a:xfrm>
          <a:prstGeom prst="rect">
            <a:avLst/>
          </a:prstGeom>
          <a:noFill/>
        </p:spPr>
        <p:txBody>
          <a:bodyPr wrap="square" rtlCol="0">
            <a:spAutoFit/>
          </a:bodyPr>
          <a:lstStyle/>
          <a:p>
            <a:pPr>
              <a:lnSpc>
                <a:spcPct val="120000"/>
              </a:lnSpc>
            </a:pPr>
            <a:r>
              <a:rPr lang="en-US" altLang="zh-CN" sz="1100" dirty="0">
                <a:solidFill>
                  <a:schemeClr val="tx1">
                    <a:lumMod val="50000"/>
                    <a:lumOff val="50000"/>
                  </a:schemeClr>
                </a:solidFill>
                <a:latin typeface="微软雅黑" panose="020B0503020204020204" pitchFamily="34" charset="-122"/>
                <a:ea typeface="微软雅黑" panose="020B0503020204020204" pitchFamily="34" charset="-122"/>
              </a:rPr>
              <a:t>Sales data including customer ID, dates, Item description, quantity, price.</a:t>
            </a:r>
            <a:endParaRPr lang="zh-CN" altLang="en-US" sz="11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48" name="组合 147"/>
          <p:cNvGrpSpPr/>
          <p:nvPr/>
        </p:nvGrpSpPr>
        <p:grpSpPr>
          <a:xfrm flipH="1">
            <a:off x="1901502" y="3701609"/>
            <a:ext cx="2014876" cy="599664"/>
            <a:chOff x="5246304" y="4593021"/>
            <a:chExt cx="2686152" cy="799737"/>
          </a:xfrm>
        </p:grpSpPr>
        <p:sp>
          <p:nvSpPr>
            <p:cNvPr id="149" name="椭圆 148"/>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sp>
          <p:nvSpPr>
            <p:cNvPr id="150" name="任意多边形 149"/>
            <p:cNvSpPr/>
            <p:nvPr/>
          </p:nvSpPr>
          <p:spPr>
            <a:xfrm>
              <a:off x="5335430" y="4686868"/>
              <a:ext cx="2597026" cy="705890"/>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prstClr val="white"/>
                </a:solidFill>
              </a:endParaRPr>
            </a:p>
          </p:txBody>
        </p:sp>
      </p:grpSp>
      <p:sp>
        <p:nvSpPr>
          <p:cNvPr id="171" name="文本框 113"/>
          <p:cNvSpPr txBox="1"/>
          <p:nvPr/>
        </p:nvSpPr>
        <p:spPr>
          <a:xfrm>
            <a:off x="482653" y="4163349"/>
            <a:ext cx="1733725" cy="851515"/>
          </a:xfrm>
          <a:prstGeom prst="rect">
            <a:avLst/>
          </a:prstGeom>
          <a:noFill/>
        </p:spPr>
        <p:txBody>
          <a:bodyPr wrap="square" rtlCol="0">
            <a:spAutoFit/>
          </a:bodyPr>
          <a:lstStyle/>
          <a:p>
            <a:pPr>
              <a:lnSpc>
                <a:spcPct val="120000"/>
              </a:lnSpc>
            </a:pPr>
            <a:r>
              <a:rPr lang="en-US" altLang="zh-CN" sz="1050" dirty="0">
                <a:solidFill>
                  <a:schemeClr val="tx1">
                    <a:lumMod val="50000"/>
                    <a:lumOff val="50000"/>
                  </a:schemeClr>
                </a:solidFill>
                <a:latin typeface="微软雅黑" panose="020B0503020204020204" pitchFamily="34" charset="-122"/>
                <a:ea typeface="微软雅黑" panose="020B0503020204020204" pitchFamily="34" charset="-122"/>
              </a:rPr>
              <a:t>Data spans one year(Dec, 2010 – Dec, 2011)</a:t>
            </a:r>
            <a:endPar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20000"/>
              </a:lnSpc>
            </a:pPr>
            <a:endParaRPr lang="zh-CN" altLang="en-US" sz="10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7" name="文本框 9">
            <a:extLst>
              <a:ext uri="{FF2B5EF4-FFF2-40B4-BE49-F238E27FC236}">
                <a16:creationId xmlns:a16="http://schemas.microsoft.com/office/drawing/2014/main" id="{25C25138-C528-C247-3F0D-34B6352E16D5}"/>
              </a:ext>
            </a:extLst>
          </p:cNvPr>
          <p:cNvSpPr txBox="1"/>
          <p:nvPr/>
        </p:nvSpPr>
        <p:spPr>
          <a:xfrm>
            <a:off x="1187115" y="108944"/>
            <a:ext cx="6169142" cy="605922"/>
          </a:xfrm>
          <a:prstGeom prst="rect">
            <a:avLst/>
          </a:prstGeom>
          <a:noFill/>
        </p:spPr>
        <p:txBody>
          <a:bodyPr wrap="square" lIns="51422" tIns="25711" rIns="51422" bIns="25711" rtlCol="0">
            <a:spAutoFit/>
          </a:bodyPr>
          <a:lstStyle/>
          <a:p>
            <a:pPr marL="0" lvl="1" algn="ctr"/>
            <a:r>
              <a:rPr lang="en-US" altLang="zh-CN" sz="3600" b="1" dirty="0">
                <a:solidFill>
                  <a:srgbClr val="663A77"/>
                </a:solidFill>
                <a:latin typeface="微软雅黑" panose="020B0503020204020204" pitchFamily="34" charset="-122"/>
                <a:ea typeface="微软雅黑" panose="020B0503020204020204" pitchFamily="34" charset="-122"/>
              </a:rPr>
              <a:t>DATA OVERVIEW</a:t>
            </a:r>
            <a:endParaRPr lang="zh-CN" altLang="en-US" sz="1400" dirty="0">
              <a:solidFill>
                <a:srgbClr val="663A77"/>
              </a:solidFill>
              <a:latin typeface="微软雅黑" panose="020B0503020204020204" pitchFamily="34" charset="-122"/>
              <a:ea typeface="微软雅黑" panose="020B0503020204020204" pitchFamily="34" charset="-122"/>
            </a:endParaRPr>
          </a:p>
        </p:txBody>
      </p:sp>
      <p:sp>
        <p:nvSpPr>
          <p:cNvPr id="8" name="TextBox 7">
            <a:extLst>
              <a:ext uri="{FF2B5EF4-FFF2-40B4-BE49-F238E27FC236}">
                <a16:creationId xmlns:a16="http://schemas.microsoft.com/office/drawing/2014/main" id="{049E13B4-0371-D84B-8090-8C88BB9D8E6D}"/>
              </a:ext>
            </a:extLst>
          </p:cNvPr>
          <p:cNvSpPr txBox="1"/>
          <p:nvPr/>
        </p:nvSpPr>
        <p:spPr>
          <a:xfrm>
            <a:off x="611560" y="1420416"/>
            <a:ext cx="1748785" cy="830997"/>
          </a:xfrm>
          <a:prstGeom prst="rect">
            <a:avLst/>
          </a:prstGeom>
          <a:noFill/>
        </p:spPr>
        <p:txBody>
          <a:bodyPr wrap="square" rtlCol="0">
            <a:spAutoFit/>
          </a:bodyPr>
          <a:lstStyle/>
          <a:p>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rPr>
              <a:t>Leading Retail store with outlets in UK and 37 other countries.</a:t>
            </a:r>
          </a:p>
        </p:txBody>
      </p:sp>
    </p:spTree>
    <p:extLst>
      <p:ext uri="{BB962C8B-B14F-4D97-AF65-F5344CB8AC3E}">
        <p14:creationId xmlns:p14="http://schemas.microsoft.com/office/powerpoint/2010/main" val="77594490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fade">
                                      <p:cBhvr>
                                        <p:cTn id="12" dur="500"/>
                                        <p:tgtEl>
                                          <p:spTgt spid="122"/>
                                        </p:tgtEl>
                                      </p:cBhvr>
                                    </p:animEffect>
                                  </p:childTnLst>
                                </p:cTn>
                              </p:par>
                              <p:par>
                                <p:cTn id="13" presetID="10" presetClass="entr" presetSubtype="0" fill="hold" nodeType="withEffect">
                                  <p:stCondLst>
                                    <p:cond delay="0"/>
                                  </p:stCondLst>
                                  <p:childTnLst>
                                    <p:set>
                                      <p:cBhvr>
                                        <p:cTn id="14" dur="1" fill="hold">
                                          <p:stCondLst>
                                            <p:cond delay="0"/>
                                          </p:stCondLst>
                                        </p:cTn>
                                        <p:tgtEl>
                                          <p:spTgt spid="158"/>
                                        </p:tgtEl>
                                        <p:attrNameLst>
                                          <p:attrName>style.visibility</p:attrName>
                                        </p:attrNameLst>
                                      </p:cBhvr>
                                      <p:to>
                                        <p:strVal val="visible"/>
                                      </p:to>
                                    </p:set>
                                    <p:animEffect transition="in" filter="fade">
                                      <p:cBhvr>
                                        <p:cTn id="15" dur="500"/>
                                        <p:tgtEl>
                                          <p:spTgt spid="15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2"/>
                                        </p:tgtEl>
                                        <p:attrNameLst>
                                          <p:attrName>style.visibility</p:attrName>
                                        </p:attrNameLst>
                                      </p:cBhvr>
                                      <p:to>
                                        <p:strVal val="visible"/>
                                      </p:to>
                                    </p:set>
                                    <p:animEffect transition="in" filter="fade">
                                      <p:cBhvr>
                                        <p:cTn id="18" dur="500"/>
                                        <p:tgtEl>
                                          <p:spTgt spid="17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8"/>
                                        </p:tgtEl>
                                        <p:attrNameLst>
                                          <p:attrName>style.visibility</p:attrName>
                                        </p:attrNameLst>
                                      </p:cBhvr>
                                      <p:to>
                                        <p:strVal val="visible"/>
                                      </p:to>
                                    </p:set>
                                    <p:animEffect transition="in" filter="fade">
                                      <p:cBhvr>
                                        <p:cTn id="23" dur="500"/>
                                        <p:tgtEl>
                                          <p:spTgt spid="14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1"/>
                                        </p:tgtEl>
                                        <p:attrNameLst>
                                          <p:attrName>style.visibility</p:attrName>
                                        </p:attrNameLst>
                                      </p:cBhvr>
                                      <p:to>
                                        <p:strVal val="visible"/>
                                      </p:to>
                                    </p:set>
                                    <p:animEffect transition="in" filter="fade">
                                      <p:cBhvr>
                                        <p:cTn id="26" dur="500"/>
                                        <p:tgtEl>
                                          <p:spTgt spid="171"/>
                                        </p:tgtEl>
                                      </p:cBhvr>
                                    </p:animEffect>
                                  </p:childTnLst>
                                </p:cTn>
                              </p:par>
                              <p:par>
                                <p:cTn id="27" presetID="10" presetClass="entr" presetSubtype="0" fill="hold" nodeType="withEffect">
                                  <p:stCondLst>
                                    <p:cond delay="0"/>
                                  </p:stCondLst>
                                  <p:childTnLst>
                                    <p:set>
                                      <p:cBhvr>
                                        <p:cTn id="28" dur="1" fill="hold">
                                          <p:stCondLst>
                                            <p:cond delay="0"/>
                                          </p:stCondLst>
                                        </p:cTn>
                                        <p:tgtEl>
                                          <p:spTgt spid="151"/>
                                        </p:tgtEl>
                                        <p:attrNameLst>
                                          <p:attrName>style.visibility</p:attrName>
                                        </p:attrNameLst>
                                      </p:cBhvr>
                                      <p:to>
                                        <p:strVal val="visible"/>
                                      </p:to>
                                    </p:set>
                                    <p:animEffect transition="in" filter="fade">
                                      <p:cBhvr>
                                        <p:cTn id="29"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P spid="1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45636" y="3821119"/>
            <a:ext cx="391992" cy="391992"/>
            <a:chOff x="3724323" y="1908536"/>
            <a:chExt cx="1329153" cy="1329153"/>
          </a:xfrm>
        </p:grpSpPr>
        <p:sp>
          <p:nvSpPr>
            <p:cNvPr id="11" name="椭圆 10"/>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2" name="椭圆 11"/>
            <p:cNvSpPr/>
            <p:nvPr/>
          </p:nvSpPr>
          <p:spPr>
            <a:xfrm>
              <a:off x="3839838" y="2024052"/>
              <a:ext cx="1098122" cy="1098122"/>
            </a:xfrm>
            <a:prstGeom prst="ellipse">
              <a:avLst/>
            </a:prstGeom>
            <a:solidFill>
              <a:schemeClr val="tx1">
                <a:lumMod val="50000"/>
                <a:lumOff val="5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3" name="组合 12"/>
          <p:cNvGrpSpPr/>
          <p:nvPr/>
        </p:nvGrpSpPr>
        <p:grpSpPr>
          <a:xfrm>
            <a:off x="-1259129" y="3789740"/>
            <a:ext cx="2616232" cy="2616232"/>
            <a:chOff x="3724323" y="1908536"/>
            <a:chExt cx="1329153" cy="1329153"/>
          </a:xfrm>
        </p:grpSpPr>
        <p:sp>
          <p:nvSpPr>
            <p:cNvPr id="14" name="椭圆 13"/>
            <p:cNvSpPr/>
            <p:nvPr/>
          </p:nvSpPr>
          <p:spPr>
            <a:xfrm>
              <a:off x="3724323" y="1908536"/>
              <a:ext cx="1329153" cy="1329153"/>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5" name="椭圆 14"/>
            <p:cNvSpPr/>
            <p:nvPr/>
          </p:nvSpPr>
          <p:spPr>
            <a:xfrm>
              <a:off x="3847467"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16" name="组合 15"/>
          <p:cNvGrpSpPr/>
          <p:nvPr/>
        </p:nvGrpSpPr>
        <p:grpSpPr>
          <a:xfrm>
            <a:off x="1216050" y="4405806"/>
            <a:ext cx="556818" cy="556818"/>
            <a:chOff x="3724323" y="1908536"/>
            <a:chExt cx="1329153" cy="1329153"/>
          </a:xfrm>
        </p:grpSpPr>
        <p:sp>
          <p:nvSpPr>
            <p:cNvPr id="17" name="椭圆 16"/>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8" name="椭圆 17"/>
            <p:cNvSpPr/>
            <p:nvPr/>
          </p:nvSpPr>
          <p:spPr>
            <a:xfrm>
              <a:off x="3858344" y="2018357"/>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9" name="组合 18"/>
          <p:cNvGrpSpPr/>
          <p:nvPr/>
        </p:nvGrpSpPr>
        <p:grpSpPr>
          <a:xfrm>
            <a:off x="2221892" y="4192303"/>
            <a:ext cx="854839" cy="854839"/>
            <a:chOff x="3724323" y="1908536"/>
            <a:chExt cx="1329153" cy="1329153"/>
          </a:xfrm>
        </p:grpSpPr>
        <p:sp>
          <p:nvSpPr>
            <p:cNvPr id="20" name="椭圆 19"/>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1" name="椭圆 20"/>
            <p:cNvSpPr/>
            <p:nvPr/>
          </p:nvSpPr>
          <p:spPr>
            <a:xfrm>
              <a:off x="3863845" y="2038374"/>
              <a:ext cx="1098121" cy="1098121"/>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2" name="组合 21"/>
          <p:cNvGrpSpPr/>
          <p:nvPr/>
        </p:nvGrpSpPr>
        <p:grpSpPr>
          <a:xfrm>
            <a:off x="1704162" y="3938806"/>
            <a:ext cx="548610" cy="548610"/>
            <a:chOff x="3724323" y="1908536"/>
            <a:chExt cx="1329153" cy="1329153"/>
          </a:xfrm>
        </p:grpSpPr>
        <p:sp>
          <p:nvSpPr>
            <p:cNvPr id="23" name="椭圆 22"/>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4" name="椭圆 23"/>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5" name="组合 24"/>
          <p:cNvGrpSpPr/>
          <p:nvPr/>
        </p:nvGrpSpPr>
        <p:grpSpPr>
          <a:xfrm>
            <a:off x="1429856" y="2925664"/>
            <a:ext cx="274306" cy="274306"/>
            <a:chOff x="3724323" y="1908536"/>
            <a:chExt cx="1329153" cy="1329153"/>
          </a:xfrm>
        </p:grpSpPr>
        <p:sp>
          <p:nvSpPr>
            <p:cNvPr id="26" name="椭圆 25"/>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7" name="椭圆 26"/>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31" name="组合 30"/>
          <p:cNvGrpSpPr/>
          <p:nvPr/>
        </p:nvGrpSpPr>
        <p:grpSpPr>
          <a:xfrm>
            <a:off x="1546559" y="3430847"/>
            <a:ext cx="780545" cy="780545"/>
            <a:chOff x="3724323" y="1908536"/>
            <a:chExt cx="1329153" cy="1329153"/>
          </a:xfrm>
          <a:solidFill>
            <a:srgbClr val="92D050"/>
          </a:solidFill>
        </p:grpSpPr>
        <p:sp>
          <p:nvSpPr>
            <p:cNvPr id="32" name="椭圆 31"/>
            <p:cNvSpPr/>
            <p:nvPr/>
          </p:nvSpPr>
          <p:spPr>
            <a:xfrm>
              <a:off x="3724323" y="1908536"/>
              <a:ext cx="1329153" cy="1329153"/>
            </a:xfrm>
            <a:prstGeom prst="ellipse">
              <a:avLst/>
            </a:prstGeom>
            <a:solidFill>
              <a:schemeClr val="bg1"/>
            </a:soli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3" name="椭圆 32"/>
            <p:cNvSpPr/>
            <p:nvPr/>
          </p:nvSpPr>
          <p:spPr>
            <a:xfrm>
              <a:off x="3845559" y="2031397"/>
              <a:ext cx="1098122" cy="1098122"/>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34" name="组合 33"/>
          <p:cNvGrpSpPr/>
          <p:nvPr/>
        </p:nvGrpSpPr>
        <p:grpSpPr>
          <a:xfrm>
            <a:off x="337342" y="3228871"/>
            <a:ext cx="560871" cy="560871"/>
            <a:chOff x="3724323" y="1908536"/>
            <a:chExt cx="1329153" cy="1329153"/>
          </a:xfrm>
        </p:grpSpPr>
        <p:sp>
          <p:nvSpPr>
            <p:cNvPr id="35" name="椭圆 34"/>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6" name="椭圆 35"/>
            <p:cNvSpPr/>
            <p:nvPr/>
          </p:nvSpPr>
          <p:spPr>
            <a:xfrm>
              <a:off x="3839838" y="2024052"/>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sp>
        <p:nvSpPr>
          <p:cNvPr id="45" name="文本框 9"/>
          <p:cNvSpPr txBox="1"/>
          <p:nvPr/>
        </p:nvSpPr>
        <p:spPr>
          <a:xfrm>
            <a:off x="1357104" y="1979335"/>
            <a:ext cx="6169142" cy="1159920"/>
          </a:xfrm>
          <a:prstGeom prst="rect">
            <a:avLst/>
          </a:prstGeom>
          <a:noFill/>
        </p:spPr>
        <p:txBody>
          <a:bodyPr wrap="square" lIns="51422" tIns="25711" rIns="51422" bIns="25711" rtlCol="0">
            <a:spAutoFit/>
          </a:bodyPr>
          <a:lstStyle/>
          <a:p>
            <a:pPr marL="0" lvl="1" algn="ctr"/>
            <a:r>
              <a:rPr lang="en-US" altLang="zh-CN" sz="3600" b="1" dirty="0">
                <a:solidFill>
                  <a:srgbClr val="663A77"/>
                </a:solidFill>
                <a:latin typeface="微软雅黑" panose="020B0503020204020204" pitchFamily="34" charset="-122"/>
                <a:ea typeface="微软雅黑" panose="020B0503020204020204" pitchFamily="34" charset="-122"/>
              </a:rPr>
              <a:t>BUSINESS UNDERSTANDING</a:t>
            </a:r>
            <a:endParaRPr lang="zh-CN" altLang="en-US" sz="1400" dirty="0">
              <a:solidFill>
                <a:srgbClr val="663A7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7808992"/>
      </p:ext>
    </p:extLst>
  </p:cSld>
  <p:clrMapOvr>
    <a:masterClrMapping/>
  </p:clrMapOvr>
  <p:transition spd="slow" advClick="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B843D1DE-3B40-0414-0D33-D8CD957D9285}"/>
              </a:ext>
            </a:extLst>
          </p:cNvPr>
          <p:cNvGraphicFramePr/>
          <p:nvPr/>
        </p:nvGraphicFramePr>
        <p:xfrm>
          <a:off x="2892152" y="844352"/>
          <a:ext cx="5892316" cy="3868204"/>
        </p:xfrm>
        <a:graphic>
          <a:graphicData uri="http://schemas.openxmlformats.org/drawingml/2006/chart">
            <c:chart xmlns:c="http://schemas.openxmlformats.org/drawingml/2006/chart" xmlns:r="http://schemas.openxmlformats.org/officeDocument/2006/relationships" r:id="rId3"/>
          </a:graphicData>
        </a:graphic>
      </p:graphicFrame>
      <p:sp>
        <p:nvSpPr>
          <p:cNvPr id="25" name="Rectangle 24">
            <a:extLst>
              <a:ext uri="{FF2B5EF4-FFF2-40B4-BE49-F238E27FC236}">
                <a16:creationId xmlns:a16="http://schemas.microsoft.com/office/drawing/2014/main" id="{C94C497B-783B-6AD2-6423-0E01BFCBC613}"/>
              </a:ext>
            </a:extLst>
          </p:cNvPr>
          <p:cNvSpPr/>
          <p:nvPr/>
        </p:nvSpPr>
        <p:spPr>
          <a:xfrm>
            <a:off x="539552" y="88268"/>
            <a:ext cx="8244916"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BUSINESS QUESTIONS</a:t>
            </a:r>
            <a:endParaRPr lang="en-GH" sz="3200" dirty="0"/>
          </a:p>
        </p:txBody>
      </p:sp>
      <p:sp>
        <p:nvSpPr>
          <p:cNvPr id="26" name="矩形 15">
            <a:extLst>
              <a:ext uri="{FF2B5EF4-FFF2-40B4-BE49-F238E27FC236}">
                <a16:creationId xmlns:a16="http://schemas.microsoft.com/office/drawing/2014/main" id="{8B274A0A-6759-2E0C-4C9A-C0EC24CBA8F6}"/>
              </a:ext>
            </a:extLst>
          </p:cNvPr>
          <p:cNvSpPr/>
          <p:nvPr/>
        </p:nvSpPr>
        <p:spPr>
          <a:xfrm>
            <a:off x="1" y="1463"/>
            <a:ext cx="738572" cy="437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3" name="TextBox 2">
            <a:extLst>
              <a:ext uri="{FF2B5EF4-FFF2-40B4-BE49-F238E27FC236}">
                <a16:creationId xmlns:a16="http://schemas.microsoft.com/office/drawing/2014/main" id="{C5E6A68C-9844-3424-82C9-4C221D594A59}"/>
              </a:ext>
            </a:extLst>
          </p:cNvPr>
          <p:cNvSpPr txBox="1"/>
          <p:nvPr/>
        </p:nvSpPr>
        <p:spPr>
          <a:xfrm>
            <a:off x="359532" y="1121539"/>
            <a:ext cx="8244916" cy="2677656"/>
          </a:xfrm>
          <a:prstGeom prst="rect">
            <a:avLst/>
          </a:prstGeom>
          <a:noFill/>
        </p:spPr>
        <p:txBody>
          <a:bodyPr wrap="square">
            <a:spAutoFit/>
          </a:bodyPr>
          <a:lstStyle/>
          <a:p>
            <a:pPr marL="342900" indent="-342900">
              <a:buAutoNum type="arabicPeriod"/>
            </a:pPr>
            <a:r>
              <a:rPr lang="en-US" sz="2400" dirty="0"/>
              <a:t>How many items are there?</a:t>
            </a:r>
          </a:p>
          <a:p>
            <a:pPr marL="342900" indent="-342900">
              <a:buAutoNum type="arabicPeriod"/>
            </a:pPr>
            <a:r>
              <a:rPr lang="en-US" sz="2400" dirty="0"/>
              <a:t>What are the most purchased items?</a:t>
            </a:r>
          </a:p>
          <a:p>
            <a:pPr marL="342900" indent="-342900">
              <a:buAutoNum type="arabicPeriod"/>
            </a:pPr>
            <a:r>
              <a:rPr lang="en-US" sz="2400" dirty="0"/>
              <a:t>What are the least purchased items?</a:t>
            </a:r>
          </a:p>
          <a:p>
            <a:pPr marL="342900" indent="-342900">
              <a:buAutoNum type="arabicPeriod"/>
            </a:pPr>
            <a:r>
              <a:rPr lang="en-US" sz="2400" dirty="0"/>
              <a:t>How many customers are there?</a:t>
            </a:r>
          </a:p>
          <a:p>
            <a:pPr marL="342900" indent="-342900">
              <a:buAutoNum type="arabicPeriod"/>
            </a:pPr>
            <a:r>
              <a:rPr lang="en-US" sz="2400" dirty="0"/>
              <a:t>Who are the top customers and what do they patronize?</a:t>
            </a:r>
          </a:p>
          <a:p>
            <a:pPr marL="342900" indent="-342900">
              <a:buAutoNum type="arabicPeriod"/>
            </a:pPr>
            <a:r>
              <a:rPr lang="en-US" sz="2400" dirty="0"/>
              <a:t>On what days of the week are most sales made?</a:t>
            </a:r>
          </a:p>
          <a:p>
            <a:pPr marL="342900" indent="-342900">
              <a:buAutoNum type="arabicPeriod"/>
            </a:pPr>
            <a:r>
              <a:rPr lang="en-US" sz="2400" dirty="0"/>
              <a:t>At what time of the day are the most sales made?</a:t>
            </a:r>
          </a:p>
        </p:txBody>
      </p:sp>
    </p:spTree>
    <p:extLst>
      <p:ext uri="{BB962C8B-B14F-4D97-AF65-F5344CB8AC3E}">
        <p14:creationId xmlns:p14="http://schemas.microsoft.com/office/powerpoint/2010/main" val="77248749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45636" y="3821119"/>
            <a:ext cx="391992" cy="391992"/>
            <a:chOff x="3724323" y="1908536"/>
            <a:chExt cx="1329153" cy="1329153"/>
          </a:xfrm>
        </p:grpSpPr>
        <p:sp>
          <p:nvSpPr>
            <p:cNvPr id="11" name="椭圆 10"/>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2" name="椭圆 11"/>
            <p:cNvSpPr/>
            <p:nvPr/>
          </p:nvSpPr>
          <p:spPr>
            <a:xfrm>
              <a:off x="3839838" y="2024052"/>
              <a:ext cx="1098122" cy="1098122"/>
            </a:xfrm>
            <a:prstGeom prst="ellipse">
              <a:avLst/>
            </a:prstGeom>
            <a:solidFill>
              <a:schemeClr val="tx1">
                <a:lumMod val="50000"/>
                <a:lumOff val="5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3" name="组合 12"/>
          <p:cNvGrpSpPr/>
          <p:nvPr/>
        </p:nvGrpSpPr>
        <p:grpSpPr>
          <a:xfrm>
            <a:off x="-1259129" y="3789740"/>
            <a:ext cx="2616232" cy="2616232"/>
            <a:chOff x="3724323" y="1908536"/>
            <a:chExt cx="1329153" cy="1329153"/>
          </a:xfrm>
        </p:grpSpPr>
        <p:sp>
          <p:nvSpPr>
            <p:cNvPr id="14" name="椭圆 13"/>
            <p:cNvSpPr/>
            <p:nvPr/>
          </p:nvSpPr>
          <p:spPr>
            <a:xfrm>
              <a:off x="3724323" y="1908536"/>
              <a:ext cx="1329153" cy="1329153"/>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5" name="椭圆 14"/>
            <p:cNvSpPr/>
            <p:nvPr/>
          </p:nvSpPr>
          <p:spPr>
            <a:xfrm>
              <a:off x="3847467"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16" name="组合 15"/>
          <p:cNvGrpSpPr/>
          <p:nvPr/>
        </p:nvGrpSpPr>
        <p:grpSpPr>
          <a:xfrm>
            <a:off x="1216050" y="4405806"/>
            <a:ext cx="556818" cy="556818"/>
            <a:chOff x="3724323" y="1908536"/>
            <a:chExt cx="1329153" cy="1329153"/>
          </a:xfrm>
        </p:grpSpPr>
        <p:sp>
          <p:nvSpPr>
            <p:cNvPr id="17" name="椭圆 16"/>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18" name="椭圆 17"/>
            <p:cNvSpPr/>
            <p:nvPr/>
          </p:nvSpPr>
          <p:spPr>
            <a:xfrm>
              <a:off x="3858344" y="2018357"/>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19" name="组合 18"/>
          <p:cNvGrpSpPr/>
          <p:nvPr/>
        </p:nvGrpSpPr>
        <p:grpSpPr>
          <a:xfrm>
            <a:off x="2221892" y="4192303"/>
            <a:ext cx="854839" cy="854839"/>
            <a:chOff x="3724323" y="1908536"/>
            <a:chExt cx="1329153" cy="1329153"/>
          </a:xfrm>
        </p:grpSpPr>
        <p:sp>
          <p:nvSpPr>
            <p:cNvPr id="20" name="椭圆 19"/>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1" name="椭圆 20"/>
            <p:cNvSpPr/>
            <p:nvPr/>
          </p:nvSpPr>
          <p:spPr>
            <a:xfrm>
              <a:off x="3863845" y="2038374"/>
              <a:ext cx="1098121" cy="1098121"/>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2" name="组合 21"/>
          <p:cNvGrpSpPr/>
          <p:nvPr/>
        </p:nvGrpSpPr>
        <p:grpSpPr>
          <a:xfrm>
            <a:off x="1704162" y="3938806"/>
            <a:ext cx="548610" cy="548610"/>
            <a:chOff x="3724323" y="1908536"/>
            <a:chExt cx="1329153" cy="1329153"/>
          </a:xfrm>
        </p:grpSpPr>
        <p:sp>
          <p:nvSpPr>
            <p:cNvPr id="23" name="椭圆 22"/>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dirty="0">
                <a:ln>
                  <a:noFill/>
                </a:ln>
                <a:solidFill>
                  <a:prstClr val="white"/>
                </a:solidFill>
                <a:effectLst/>
                <a:uLnTx/>
                <a:uFillTx/>
                <a:latin typeface="FZZhengHeiS-R-GB"/>
                <a:cs typeface="+mn-cs"/>
              </a:endParaRPr>
            </a:p>
          </p:txBody>
        </p:sp>
        <p:sp>
          <p:nvSpPr>
            <p:cNvPr id="24" name="椭圆 23"/>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25" name="组合 24"/>
          <p:cNvGrpSpPr/>
          <p:nvPr/>
        </p:nvGrpSpPr>
        <p:grpSpPr>
          <a:xfrm>
            <a:off x="1429856" y="2925664"/>
            <a:ext cx="274306" cy="274306"/>
            <a:chOff x="3724323" y="1908536"/>
            <a:chExt cx="1329153" cy="1329153"/>
          </a:xfrm>
        </p:grpSpPr>
        <p:sp>
          <p:nvSpPr>
            <p:cNvPr id="26" name="椭圆 25"/>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27" name="椭圆 26"/>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grpSp>
        <p:nvGrpSpPr>
          <p:cNvPr id="31" name="组合 30"/>
          <p:cNvGrpSpPr/>
          <p:nvPr/>
        </p:nvGrpSpPr>
        <p:grpSpPr>
          <a:xfrm>
            <a:off x="1546559" y="3430847"/>
            <a:ext cx="780545" cy="780545"/>
            <a:chOff x="3724323" y="1908536"/>
            <a:chExt cx="1329153" cy="1329153"/>
          </a:xfrm>
          <a:solidFill>
            <a:srgbClr val="92D050"/>
          </a:solidFill>
        </p:grpSpPr>
        <p:sp>
          <p:nvSpPr>
            <p:cNvPr id="32" name="椭圆 31"/>
            <p:cNvSpPr/>
            <p:nvPr/>
          </p:nvSpPr>
          <p:spPr>
            <a:xfrm>
              <a:off x="3724323" y="1908536"/>
              <a:ext cx="1329153" cy="1329153"/>
            </a:xfrm>
            <a:prstGeom prst="ellipse">
              <a:avLst/>
            </a:prstGeom>
            <a:solidFill>
              <a:schemeClr val="bg1"/>
            </a:soli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3" name="椭圆 32"/>
            <p:cNvSpPr/>
            <p:nvPr/>
          </p:nvSpPr>
          <p:spPr>
            <a:xfrm>
              <a:off x="3845559" y="2031397"/>
              <a:ext cx="1098122" cy="1098122"/>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FZZhengHeiS-R-GB"/>
                <a:cs typeface="+mn-cs"/>
              </a:endParaRPr>
            </a:p>
          </p:txBody>
        </p:sp>
      </p:grpSp>
      <p:grpSp>
        <p:nvGrpSpPr>
          <p:cNvPr id="34" name="组合 33"/>
          <p:cNvGrpSpPr/>
          <p:nvPr/>
        </p:nvGrpSpPr>
        <p:grpSpPr>
          <a:xfrm>
            <a:off x="337342" y="3228871"/>
            <a:ext cx="560871" cy="560871"/>
            <a:chOff x="3724323" y="1908536"/>
            <a:chExt cx="1329153" cy="1329153"/>
          </a:xfrm>
        </p:grpSpPr>
        <p:sp>
          <p:nvSpPr>
            <p:cNvPr id="35" name="椭圆 34"/>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12" b="0" i="0" u="none" strike="noStrike" kern="1200" cap="none" spc="0" normalizeH="0" baseline="0" noProof="0">
                <a:ln>
                  <a:noFill/>
                </a:ln>
                <a:solidFill>
                  <a:prstClr val="white"/>
                </a:solidFill>
                <a:effectLst/>
                <a:uLnTx/>
                <a:uFillTx/>
                <a:latin typeface="FZZhengHeiS-R-GB"/>
                <a:cs typeface="+mn-cs"/>
              </a:endParaRPr>
            </a:p>
          </p:txBody>
        </p:sp>
        <p:sp>
          <p:nvSpPr>
            <p:cNvPr id="36" name="椭圆 35"/>
            <p:cNvSpPr/>
            <p:nvPr/>
          </p:nvSpPr>
          <p:spPr>
            <a:xfrm>
              <a:off x="3839838" y="2024052"/>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FZZhengHeiS-R-GB"/>
                <a:cs typeface="+mn-cs"/>
              </a:endParaRPr>
            </a:p>
          </p:txBody>
        </p:sp>
      </p:grpSp>
      <p:sp>
        <p:nvSpPr>
          <p:cNvPr id="45" name="文本框 9"/>
          <p:cNvSpPr txBox="1"/>
          <p:nvPr/>
        </p:nvSpPr>
        <p:spPr>
          <a:xfrm>
            <a:off x="1357104" y="1979335"/>
            <a:ext cx="6169142" cy="605922"/>
          </a:xfrm>
          <a:prstGeom prst="rect">
            <a:avLst/>
          </a:prstGeom>
          <a:noFill/>
        </p:spPr>
        <p:txBody>
          <a:bodyPr wrap="square" lIns="51422" tIns="25711" rIns="51422" bIns="25711" rtlCol="0">
            <a:spAutoFit/>
          </a:bodyPr>
          <a:lstStyle/>
          <a:p>
            <a:pPr marL="0" lvl="1" algn="ctr"/>
            <a:r>
              <a:rPr lang="en-US" altLang="zh-CN" sz="3600" b="1" dirty="0">
                <a:solidFill>
                  <a:srgbClr val="663A77"/>
                </a:solidFill>
                <a:latin typeface="微软雅黑" panose="020B0503020204020204" pitchFamily="34" charset="-122"/>
                <a:ea typeface="微软雅黑" panose="020B0503020204020204" pitchFamily="34" charset="-122"/>
              </a:rPr>
              <a:t>KEY BUSINESS INSIGHTS</a:t>
            </a:r>
            <a:endParaRPr lang="zh-CN" altLang="en-US" sz="1400" dirty="0">
              <a:solidFill>
                <a:srgbClr val="663A7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0868009"/>
      </p:ext>
    </p:extLst>
  </p:cSld>
  <p:clrMapOvr>
    <a:masterClrMapping/>
  </p:clrMapOvr>
  <p:transition spd="slow" advClick="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94C497B-783B-6AD2-6423-0E01BFCBC613}"/>
              </a:ext>
            </a:extLst>
          </p:cNvPr>
          <p:cNvSpPr/>
          <p:nvPr/>
        </p:nvSpPr>
        <p:spPr>
          <a:xfrm>
            <a:off x="919902" y="69664"/>
            <a:ext cx="7252497"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2121313" y="138206"/>
            <a:ext cx="4901373" cy="421256"/>
          </a:xfrm>
          <a:prstGeom prst="rect">
            <a:avLst/>
          </a:prstGeom>
          <a:solidFill>
            <a:srgbClr val="92D050"/>
          </a:solid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CURRENT BUSINESS STATISTICS</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7" name="Rectangle: Rounded Corners 6">
            <a:extLst>
              <a:ext uri="{FF2B5EF4-FFF2-40B4-BE49-F238E27FC236}">
                <a16:creationId xmlns:a16="http://schemas.microsoft.com/office/drawing/2014/main" id="{CB4486D4-18CE-A128-B4C7-D39972F1D8CB}"/>
              </a:ext>
            </a:extLst>
          </p:cNvPr>
          <p:cNvSpPr/>
          <p:nvPr/>
        </p:nvSpPr>
        <p:spPr>
          <a:xfrm>
            <a:off x="189613" y="808348"/>
            <a:ext cx="2556284" cy="864096"/>
          </a:xfrm>
          <a:prstGeom prst="roundRect">
            <a:avLst>
              <a:gd name="adj" fmla="val 6180"/>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Total Sales</a:t>
            </a:r>
          </a:p>
          <a:p>
            <a:pPr algn="ctr"/>
            <a:r>
              <a:rPr lang="en-US" sz="2000" b="1" dirty="0">
                <a:latin typeface="Times New Roman" panose="02020603050405020304" pitchFamily="18" charset="0"/>
                <a:cs typeface="Times New Roman" panose="02020603050405020304" pitchFamily="18" charset="0"/>
              </a:rPr>
              <a:t>₤</a:t>
            </a:r>
            <a:r>
              <a:rPr lang="en-US" sz="2000" b="1" dirty="0"/>
              <a:t>8.618M </a:t>
            </a:r>
            <a:endParaRPr lang="en-US" b="1" dirty="0"/>
          </a:p>
        </p:txBody>
      </p:sp>
      <p:sp>
        <p:nvSpPr>
          <p:cNvPr id="9" name="Rectangle: Rounded Corners 8">
            <a:extLst>
              <a:ext uri="{FF2B5EF4-FFF2-40B4-BE49-F238E27FC236}">
                <a16:creationId xmlns:a16="http://schemas.microsoft.com/office/drawing/2014/main" id="{71470C1F-0132-A56F-A578-BD68CEABD485}"/>
              </a:ext>
            </a:extLst>
          </p:cNvPr>
          <p:cNvSpPr/>
          <p:nvPr/>
        </p:nvSpPr>
        <p:spPr>
          <a:xfrm>
            <a:off x="5976156" y="808348"/>
            <a:ext cx="2556284" cy="864096"/>
          </a:xfrm>
          <a:prstGeom prst="roundRect">
            <a:avLst>
              <a:gd name="adj" fmla="val 6180"/>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Number of Customers</a:t>
            </a:r>
          </a:p>
          <a:p>
            <a:pPr algn="ctr"/>
            <a:r>
              <a:rPr lang="en-US" sz="1400" b="1" dirty="0"/>
              <a:t> &gt; </a:t>
            </a:r>
            <a:r>
              <a:rPr lang="en-US" sz="2000" b="1" dirty="0"/>
              <a:t>3,950</a:t>
            </a:r>
            <a:endParaRPr lang="en-US" sz="1400" dirty="0"/>
          </a:p>
        </p:txBody>
      </p:sp>
      <p:sp>
        <p:nvSpPr>
          <p:cNvPr id="2" name="Rectangle: Rounded Corners 1">
            <a:extLst>
              <a:ext uri="{FF2B5EF4-FFF2-40B4-BE49-F238E27FC236}">
                <a16:creationId xmlns:a16="http://schemas.microsoft.com/office/drawing/2014/main" id="{F86DDB31-BA6B-AD18-844F-66E8646C07FB}"/>
              </a:ext>
            </a:extLst>
          </p:cNvPr>
          <p:cNvSpPr/>
          <p:nvPr/>
        </p:nvSpPr>
        <p:spPr>
          <a:xfrm>
            <a:off x="3151077" y="808348"/>
            <a:ext cx="2556284" cy="864096"/>
          </a:xfrm>
          <a:prstGeom prst="roundRect">
            <a:avLst>
              <a:gd name="adj" fmla="val 6180"/>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Products</a:t>
            </a:r>
          </a:p>
          <a:p>
            <a:pPr algn="ctr"/>
            <a:r>
              <a:rPr lang="en-US" sz="2000" b="1" dirty="0">
                <a:latin typeface="Times New Roman" panose="02020603050405020304" pitchFamily="18" charset="0"/>
                <a:cs typeface="Times New Roman" panose="02020603050405020304" pitchFamily="18" charset="0"/>
              </a:rPr>
              <a:t>&gt; 3804</a:t>
            </a:r>
            <a:endParaRPr lang="en-US" b="1" dirty="0"/>
          </a:p>
        </p:txBody>
      </p:sp>
      <p:sp>
        <p:nvSpPr>
          <p:cNvPr id="6" name="Rectangle 5">
            <a:extLst>
              <a:ext uri="{FF2B5EF4-FFF2-40B4-BE49-F238E27FC236}">
                <a16:creationId xmlns:a16="http://schemas.microsoft.com/office/drawing/2014/main" id="{23948E90-CE70-D0EE-C2F2-0CA3E6DDD065}"/>
              </a:ext>
            </a:extLst>
          </p:cNvPr>
          <p:cNvSpPr/>
          <p:nvPr/>
        </p:nvSpPr>
        <p:spPr>
          <a:xfrm>
            <a:off x="2963281" y="4510548"/>
            <a:ext cx="3230259" cy="49633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dirty="0">
                <a:solidFill>
                  <a:schemeClr val="tx1">
                    <a:lumMod val="85000"/>
                    <a:lumOff val="15000"/>
                  </a:schemeClr>
                </a:solidFill>
              </a:rPr>
              <a:t>SALES TREND OVER DURATION</a:t>
            </a:r>
          </a:p>
        </p:txBody>
      </p:sp>
      <p:pic>
        <p:nvPicPr>
          <p:cNvPr id="5" name="Picture 4">
            <a:extLst>
              <a:ext uri="{FF2B5EF4-FFF2-40B4-BE49-F238E27FC236}">
                <a16:creationId xmlns:a16="http://schemas.microsoft.com/office/drawing/2014/main" id="{C6DECD1C-3858-184D-89F6-473BBF8AAA2C}"/>
              </a:ext>
            </a:extLst>
          </p:cNvPr>
          <p:cNvPicPr>
            <a:picLocks noChangeAspect="1"/>
          </p:cNvPicPr>
          <p:nvPr/>
        </p:nvPicPr>
        <p:blipFill>
          <a:blip r:embed="rId3"/>
          <a:stretch>
            <a:fillRect/>
          </a:stretch>
        </p:blipFill>
        <p:spPr>
          <a:xfrm>
            <a:off x="2292213" y="1970006"/>
            <a:ext cx="4572396" cy="2582692"/>
          </a:xfrm>
          <a:prstGeom prst="rect">
            <a:avLst/>
          </a:prstGeom>
        </p:spPr>
      </p:pic>
    </p:spTree>
    <p:extLst>
      <p:ext uri="{BB962C8B-B14F-4D97-AF65-F5344CB8AC3E}">
        <p14:creationId xmlns:p14="http://schemas.microsoft.com/office/powerpoint/2010/main" val="1189475496"/>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B843D1DE-3B40-0414-0D33-D8CD957D9285}"/>
              </a:ext>
            </a:extLst>
          </p:cNvPr>
          <p:cNvGraphicFramePr/>
          <p:nvPr>
            <p:extLst>
              <p:ext uri="{D42A27DB-BD31-4B8C-83A1-F6EECF244321}">
                <p14:modId xmlns:p14="http://schemas.microsoft.com/office/powerpoint/2010/main" val="3835505436"/>
              </p:ext>
            </p:extLst>
          </p:nvPr>
        </p:nvGraphicFramePr>
        <p:xfrm>
          <a:off x="643620" y="844352"/>
          <a:ext cx="8140848" cy="3868204"/>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38029548-F171-6908-0ACA-BFA67ED9F69C}"/>
              </a:ext>
            </a:extLst>
          </p:cNvPr>
          <p:cNvSpPr/>
          <p:nvPr/>
        </p:nvSpPr>
        <p:spPr>
          <a:xfrm>
            <a:off x="935596" y="76932"/>
            <a:ext cx="7236804"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Average Sales over Time of Day</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26573039"/>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94C497B-783B-6AD2-6423-0E01BFCBC613}"/>
              </a:ext>
            </a:extLst>
          </p:cNvPr>
          <p:cNvSpPr/>
          <p:nvPr/>
        </p:nvSpPr>
        <p:spPr>
          <a:xfrm>
            <a:off x="700907" y="65017"/>
            <a:ext cx="7596844"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1079612" y="125807"/>
            <a:ext cx="6624736"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                  Sales by Day of the Week</a:t>
            </a:r>
            <a:endParaRPr lang="zh-CN" altLang="en-US" sz="2400" dirty="0">
              <a:solidFill>
                <a:schemeClr val="bg1"/>
              </a:solidFill>
              <a:latin typeface="微软雅黑" panose="020B0503020204020204" pitchFamily="34" charset="-122"/>
              <a:ea typeface="微软雅黑" panose="020B0503020204020204" pitchFamily="34" charset="-122"/>
            </a:endParaRPr>
          </a:p>
        </p:txBody>
      </p:sp>
      <p:pic>
        <p:nvPicPr>
          <p:cNvPr id="8194" name="Picture 2">
            <a:extLst>
              <a:ext uri="{FF2B5EF4-FFF2-40B4-BE49-F238E27FC236}">
                <a16:creationId xmlns:a16="http://schemas.microsoft.com/office/drawing/2014/main" id="{D2F77171-5AB2-BDC1-0C59-127012BCF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714474"/>
            <a:ext cx="4050226" cy="206006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D85F23BC-67FD-B369-77B8-F27200EB94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546" y="714474"/>
            <a:ext cx="4173910" cy="206006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49022178-769E-7182-C754-0F359624C1BD}"/>
              </a:ext>
            </a:extLst>
          </p:cNvPr>
          <p:cNvPicPr>
            <a:picLocks noChangeAspect="1"/>
          </p:cNvPicPr>
          <p:nvPr/>
        </p:nvPicPr>
        <p:blipFill>
          <a:blip r:embed="rId5"/>
          <a:stretch>
            <a:fillRect/>
          </a:stretch>
        </p:blipFill>
        <p:spPr>
          <a:xfrm>
            <a:off x="2123728" y="2877067"/>
            <a:ext cx="5112568" cy="2217428"/>
          </a:xfrm>
          <a:prstGeom prst="rect">
            <a:avLst/>
          </a:prstGeom>
        </p:spPr>
      </p:pic>
    </p:spTree>
    <p:extLst>
      <p:ext uri="{BB962C8B-B14F-4D97-AF65-F5344CB8AC3E}">
        <p14:creationId xmlns:p14="http://schemas.microsoft.com/office/powerpoint/2010/main" val="370551140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9F4179-B1FB-553C-C4C9-225428191DAD}"/>
              </a:ext>
            </a:extLst>
          </p:cNvPr>
          <p:cNvSpPr/>
          <p:nvPr/>
        </p:nvSpPr>
        <p:spPr>
          <a:xfrm>
            <a:off x="683567" y="67237"/>
            <a:ext cx="7776864"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6" name="矩形 15">
            <a:extLst>
              <a:ext uri="{FF2B5EF4-FFF2-40B4-BE49-F238E27FC236}">
                <a16:creationId xmlns:a16="http://schemas.microsoft.com/office/drawing/2014/main" id="{8B274A0A-6759-2E0C-4C9A-C0EC24CBA8F6}"/>
              </a:ext>
            </a:extLst>
          </p:cNvPr>
          <p:cNvSpPr/>
          <p:nvPr/>
        </p:nvSpPr>
        <p:spPr>
          <a:xfrm>
            <a:off x="1" y="1463"/>
            <a:ext cx="738572" cy="437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27" name="文本框 9">
            <a:extLst>
              <a:ext uri="{FF2B5EF4-FFF2-40B4-BE49-F238E27FC236}">
                <a16:creationId xmlns:a16="http://schemas.microsoft.com/office/drawing/2014/main" id="{467E3814-3E35-AFD4-E745-EFC48C01B249}"/>
              </a:ext>
            </a:extLst>
          </p:cNvPr>
          <p:cNvSpPr txBox="1"/>
          <p:nvPr/>
        </p:nvSpPr>
        <p:spPr>
          <a:xfrm>
            <a:off x="2760486" y="104776"/>
            <a:ext cx="5078632"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Least Purchased Items</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4" name="Table 3">
            <a:extLst>
              <a:ext uri="{FF2B5EF4-FFF2-40B4-BE49-F238E27FC236}">
                <a16:creationId xmlns:a16="http://schemas.microsoft.com/office/drawing/2014/main" id="{7D404F39-B16E-36EE-697E-CD0C7BFE8CA5}"/>
              </a:ext>
            </a:extLst>
          </p:cNvPr>
          <p:cNvGraphicFramePr>
            <a:graphicFrameLocks noGrp="1"/>
          </p:cNvGraphicFramePr>
          <p:nvPr>
            <p:extLst>
              <p:ext uri="{D42A27DB-BD31-4B8C-83A1-F6EECF244321}">
                <p14:modId xmlns:p14="http://schemas.microsoft.com/office/powerpoint/2010/main" val="3074207567"/>
              </p:ext>
            </p:extLst>
          </p:nvPr>
        </p:nvGraphicFramePr>
        <p:xfrm>
          <a:off x="738573" y="721431"/>
          <a:ext cx="3185355" cy="3702225"/>
        </p:xfrm>
        <a:graphic>
          <a:graphicData uri="http://schemas.openxmlformats.org/drawingml/2006/table">
            <a:tbl>
              <a:tblPr/>
              <a:tblGrid>
                <a:gridCol w="3185355">
                  <a:extLst>
                    <a:ext uri="{9D8B030D-6E8A-4147-A177-3AD203B41FA5}">
                      <a16:colId xmlns:a16="http://schemas.microsoft.com/office/drawing/2014/main" val="2617219478"/>
                    </a:ext>
                  </a:extLst>
                </a:gridCol>
              </a:tblGrid>
              <a:tr h="415321">
                <a:tc>
                  <a:txBody>
                    <a:bodyPr/>
                    <a:lstStyle/>
                    <a:p>
                      <a:pPr lvl="1" algn="l" fontAlgn="b"/>
                      <a:r>
                        <a:rPr lang="en-US" sz="1400" b="1" i="0" u="none" strike="noStrike" dirty="0">
                          <a:solidFill>
                            <a:srgbClr val="FFFFFF"/>
                          </a:solidFill>
                          <a:effectLst/>
                          <a:latin typeface="Poppins" panose="00000500000000000000" pitchFamily="2" charset="0"/>
                        </a:rPr>
                        <a:t>ITEM DESCRIPTIONS</a:t>
                      </a:r>
                    </a:p>
                  </a:txBody>
                  <a:tcPr marL="7620" marR="7620" marT="7620" marB="0" anchor="ctr">
                    <a:lnL w="6350" cap="flat" cmpd="sng" algn="ctr">
                      <a:solidFill>
                        <a:srgbClr val="44B3E1"/>
                      </a:solidFill>
                      <a:prstDash val="solid"/>
                      <a:round/>
                      <a:headEnd type="none" w="med" len="med"/>
                      <a:tailEnd type="none" w="med" len="med"/>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92D050"/>
                    </a:solidFill>
                  </a:tcPr>
                </a:tc>
                <a:extLst>
                  <a:ext uri="{0D108BD9-81ED-4DB2-BD59-A6C34878D82A}">
                    <a16:rowId xmlns:a16="http://schemas.microsoft.com/office/drawing/2014/main" val="925404782"/>
                  </a:ext>
                </a:extLst>
              </a:tr>
              <a:tr h="3286904">
                <a:tc>
                  <a:txBody>
                    <a:bodyPr/>
                    <a:lstStyle/>
                    <a:p>
                      <a:pPr lvl="1" algn="l" fontAlgn="b"/>
                      <a:r>
                        <a:rPr lang="en-US" sz="1400" b="0" i="0" u="none" strike="noStrike" dirty="0">
                          <a:solidFill>
                            <a:srgbClr val="000000"/>
                          </a:solidFill>
                          <a:effectLst/>
                          <a:latin typeface="Poppins" panose="00000500000000000000" pitchFamily="2" charset="0"/>
                        </a:rPr>
                        <a:t>BLOSSOM IMAGES SCRAP BOOK SET</a:t>
                      </a:r>
                    </a:p>
                    <a:p>
                      <a:pPr lvl="1" algn="l" fontAlgn="b"/>
                      <a:r>
                        <a:rPr lang="en-US" sz="1400" b="0" i="0" u="none" strike="noStrike" dirty="0">
                          <a:solidFill>
                            <a:srgbClr val="000000"/>
                          </a:solidFill>
                          <a:effectLst/>
                          <a:latin typeface="Poppins" panose="00000500000000000000" pitchFamily="2" charset="0"/>
                        </a:rPr>
                        <a:t>WRAP BLUE RUSSIAN FOLKART</a:t>
                      </a:r>
                    </a:p>
                    <a:p>
                      <a:pPr lvl="1" algn="l" fontAlgn="b"/>
                      <a:r>
                        <a:rPr lang="en-US" sz="1400" b="0" i="0" u="none" strike="noStrike" dirty="0">
                          <a:solidFill>
                            <a:srgbClr val="000000"/>
                          </a:solidFill>
                          <a:effectLst/>
                          <a:latin typeface="Poppins" panose="00000500000000000000" pitchFamily="2" charset="0"/>
                        </a:rPr>
                        <a:t>PINK/WHITE GLASS DEMI CHOKER</a:t>
                      </a:r>
                    </a:p>
                    <a:p>
                      <a:pPr lvl="1" algn="l" fontAlgn="b"/>
                      <a:r>
                        <a:rPr lang="en-US" sz="1400" b="0" i="0" u="none" strike="noStrike" dirty="0">
                          <a:solidFill>
                            <a:srgbClr val="000000"/>
                          </a:solidFill>
                          <a:effectLst/>
                          <a:latin typeface="Poppins" panose="00000500000000000000" pitchFamily="2" charset="0"/>
                        </a:rPr>
                        <a:t>SET 10 CARD CHRISTMAS STAMPS 16963</a:t>
                      </a:r>
                    </a:p>
                    <a:p>
                      <a:pPr lvl="1" algn="l" fontAlgn="b"/>
                      <a:r>
                        <a:rPr lang="en-US" sz="1400" b="0" i="0" u="none" strike="noStrike" dirty="0">
                          <a:solidFill>
                            <a:srgbClr val="000000"/>
                          </a:solidFill>
                          <a:effectLst/>
                          <a:latin typeface="Poppins" panose="00000500000000000000" pitchFamily="2" charset="0"/>
                        </a:rPr>
                        <a:t>RUBY GLASS CLUSTER NECKLACE</a:t>
                      </a:r>
                    </a:p>
                    <a:p>
                      <a:pPr lvl="1" algn="l" fontAlgn="b"/>
                      <a:r>
                        <a:rPr lang="en-US" sz="1400" b="0" i="0" u="none" strike="noStrike" dirty="0">
                          <a:solidFill>
                            <a:srgbClr val="000000"/>
                          </a:solidFill>
                          <a:effectLst/>
                          <a:latin typeface="Poppins" panose="00000500000000000000" pitchFamily="2" charset="0"/>
                        </a:rPr>
                        <a:t>LASER CUT MULTI STRAND NECKLACE</a:t>
                      </a:r>
                    </a:p>
                    <a:p>
                      <a:pPr lvl="1" algn="l" fontAlgn="b"/>
                      <a:r>
                        <a:rPr lang="en-US" sz="1400" b="0" i="0" u="none" strike="noStrike" dirty="0">
                          <a:solidFill>
                            <a:srgbClr val="000000"/>
                          </a:solidFill>
                          <a:effectLst/>
                          <a:latin typeface="Poppins" panose="00000500000000000000" pitchFamily="2" charset="0"/>
                        </a:rPr>
                        <a:t>WRAP A PRETTY THANK YOU</a:t>
                      </a:r>
                    </a:p>
                    <a:p>
                      <a:pPr lvl="1" algn="l" fontAlgn="b"/>
                      <a:r>
                        <a:rPr lang="en-US" sz="1400" b="0" i="0" u="none" strike="noStrike" dirty="0">
                          <a:solidFill>
                            <a:srgbClr val="000000"/>
                          </a:solidFill>
                          <a:effectLst/>
                          <a:latin typeface="Poppins" panose="00000500000000000000" pitchFamily="2" charset="0"/>
                        </a:rPr>
                        <a:t>WRAP  PINK FLOCK</a:t>
                      </a:r>
                    </a:p>
                    <a:p>
                      <a:pPr lvl="1" algn="l" fontAlgn="b"/>
                      <a:r>
                        <a:rPr lang="en-US" sz="1400" b="0" i="0" u="none" strike="noStrike" dirty="0">
                          <a:solidFill>
                            <a:srgbClr val="000000"/>
                          </a:solidFill>
                          <a:effectLst/>
                          <a:latin typeface="Poppins" panose="00000500000000000000" pitchFamily="2" charset="0"/>
                        </a:rPr>
                        <a:t>CREAM SWEETHEART TRAYS</a:t>
                      </a:r>
                    </a:p>
                    <a:p>
                      <a:pPr lvl="1" algn="l" fontAlgn="b"/>
                      <a:r>
                        <a:rPr lang="en-US" sz="1400" b="0" i="0" u="none" strike="noStrike" dirty="0">
                          <a:solidFill>
                            <a:srgbClr val="000000"/>
                          </a:solidFill>
                          <a:effectLst/>
                          <a:latin typeface="Poppins" panose="00000500000000000000" pitchFamily="2" charset="0"/>
                        </a:rPr>
                        <a:t>LETTER "U" BLING KEY RING</a:t>
                      </a:r>
                    </a:p>
                  </a:txBody>
                  <a:tcPr marL="7620" marR="7620" marT="7620" marB="0" anchor="b">
                    <a:lnL w="6350" cap="flat" cmpd="sng" algn="ctr">
                      <a:solidFill>
                        <a:srgbClr val="C0C12F"/>
                      </a:solidFill>
                      <a:prstDash val="solid"/>
                      <a:round/>
                      <a:headEnd type="none" w="med" len="med"/>
                      <a:tailEnd type="none" w="med" len="med"/>
                    </a:lnL>
                    <a:lnR w="6350" cap="flat" cmpd="sng" algn="ctr">
                      <a:solidFill>
                        <a:srgbClr val="C0C12F"/>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C0C12F"/>
                      </a:solidFill>
                      <a:prstDash val="solid"/>
                      <a:round/>
                      <a:headEnd type="none" w="med" len="med"/>
                      <a:tailEnd type="none" w="med" len="med"/>
                    </a:lnB>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tcPr>
                </a:tc>
                <a:extLst>
                  <a:ext uri="{0D108BD9-81ED-4DB2-BD59-A6C34878D82A}">
                    <a16:rowId xmlns:a16="http://schemas.microsoft.com/office/drawing/2014/main" val="3246572672"/>
                  </a:ext>
                </a:extLst>
              </a:tr>
            </a:tbl>
          </a:graphicData>
        </a:graphic>
      </p:graphicFrame>
    </p:spTree>
    <p:extLst>
      <p:ext uri="{BB962C8B-B14F-4D97-AF65-F5344CB8AC3E}">
        <p14:creationId xmlns:p14="http://schemas.microsoft.com/office/powerpoint/2010/main" val="397406418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9F4179-B1FB-553C-C4C9-225428191DAD}"/>
              </a:ext>
            </a:extLst>
          </p:cNvPr>
          <p:cNvSpPr/>
          <p:nvPr/>
        </p:nvSpPr>
        <p:spPr>
          <a:xfrm>
            <a:off x="683567" y="67237"/>
            <a:ext cx="7776864"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2760486" y="104776"/>
            <a:ext cx="5078632"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Most Purchased Items</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Table 4">
            <a:extLst>
              <a:ext uri="{FF2B5EF4-FFF2-40B4-BE49-F238E27FC236}">
                <a16:creationId xmlns:a16="http://schemas.microsoft.com/office/drawing/2014/main" id="{6A6B3179-C7E0-9552-46B6-A2E02B20DBBB}"/>
              </a:ext>
            </a:extLst>
          </p:cNvPr>
          <p:cNvGraphicFramePr>
            <a:graphicFrameLocks noGrp="1"/>
          </p:cNvGraphicFramePr>
          <p:nvPr>
            <p:extLst>
              <p:ext uri="{D42A27DB-BD31-4B8C-83A1-F6EECF244321}">
                <p14:modId xmlns:p14="http://schemas.microsoft.com/office/powerpoint/2010/main" val="2348060162"/>
              </p:ext>
            </p:extLst>
          </p:nvPr>
        </p:nvGraphicFramePr>
        <p:xfrm>
          <a:off x="689967" y="700336"/>
          <a:ext cx="4841539" cy="4048229"/>
        </p:xfrm>
        <a:graphic>
          <a:graphicData uri="http://schemas.openxmlformats.org/drawingml/2006/table">
            <a:tbl>
              <a:tblPr/>
              <a:tblGrid>
                <a:gridCol w="4841539">
                  <a:extLst>
                    <a:ext uri="{9D8B030D-6E8A-4147-A177-3AD203B41FA5}">
                      <a16:colId xmlns:a16="http://schemas.microsoft.com/office/drawing/2014/main" val="2617219478"/>
                    </a:ext>
                  </a:extLst>
                </a:gridCol>
              </a:tblGrid>
              <a:tr h="383009">
                <a:tc>
                  <a:txBody>
                    <a:bodyPr/>
                    <a:lstStyle/>
                    <a:p>
                      <a:pPr lvl="1" algn="l" fontAlgn="b"/>
                      <a:r>
                        <a:rPr lang="en-US" sz="1400" b="1" i="0" u="none" strike="noStrike" dirty="0">
                          <a:solidFill>
                            <a:srgbClr val="FFFFFF"/>
                          </a:solidFill>
                          <a:effectLst/>
                          <a:latin typeface="Poppins" panose="00000500000000000000" pitchFamily="2" charset="0"/>
                        </a:rPr>
                        <a:t>ITEM DESCRIPTIONS</a:t>
                      </a:r>
                    </a:p>
                  </a:txBody>
                  <a:tcPr marL="7620" marR="7620" marT="7620" marB="0" anchor="ctr">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92D050"/>
                    </a:solidFill>
                  </a:tcPr>
                </a:tc>
                <a:extLst>
                  <a:ext uri="{0D108BD9-81ED-4DB2-BD59-A6C34878D82A}">
                    <a16:rowId xmlns:a16="http://schemas.microsoft.com/office/drawing/2014/main" val="925404782"/>
                  </a:ext>
                </a:extLst>
              </a:tr>
              <a:tr h="3031184">
                <a:tc>
                  <a:txBody>
                    <a:bodyPr/>
                    <a:lstStyle/>
                    <a:p>
                      <a:pPr lvl="1" algn="l" fontAlgn="b"/>
                      <a:r>
                        <a:rPr lang="en-US" sz="1600" dirty="0"/>
                        <a:t>WHITE HANGING HEART T-LIGHT HOLDER</a:t>
                      </a:r>
                    </a:p>
                    <a:p>
                      <a:pPr lvl="1" algn="l" fontAlgn="b"/>
                      <a:r>
                        <a:rPr lang="en-US" sz="1600" dirty="0"/>
                        <a:t>JUMBO BAG RED RETROSPOT</a:t>
                      </a:r>
                    </a:p>
                    <a:p>
                      <a:pPr lvl="1" algn="l" fontAlgn="b"/>
                      <a:r>
                        <a:rPr lang="en-US" sz="1600" dirty="0"/>
                        <a:t>REGENCY CAKESTAND 3 TIER</a:t>
                      </a:r>
                    </a:p>
                    <a:p>
                      <a:pPr lvl="1" algn="l" fontAlgn="b"/>
                      <a:r>
                        <a:rPr lang="en-US" sz="1600" dirty="0"/>
                        <a:t>PARTY BUNTING</a:t>
                      </a:r>
                    </a:p>
                    <a:p>
                      <a:pPr lvl="1" algn="l" fontAlgn="b"/>
                      <a:r>
                        <a:rPr lang="en-US" sz="1600" dirty="0"/>
                        <a:t>LUNCH BAG RED RETROSPOT</a:t>
                      </a:r>
                    </a:p>
                    <a:p>
                      <a:pPr lvl="1" algn="l" fontAlgn="b"/>
                      <a:r>
                        <a:rPr lang="en-US" sz="1600" dirty="0"/>
                        <a:t>ASSORTED COLOUR BIRD ORNAMENT</a:t>
                      </a:r>
                    </a:p>
                    <a:p>
                      <a:pPr lvl="1" algn="l" fontAlgn="b"/>
                      <a:r>
                        <a:rPr lang="en-US" sz="1600" dirty="0"/>
                        <a:t>POPCORN HOLDER</a:t>
                      </a:r>
                    </a:p>
                    <a:p>
                      <a:pPr lvl="1" algn="l" fontAlgn="b"/>
                      <a:r>
                        <a:rPr lang="en-US" sz="1600" dirty="0"/>
                        <a:t>SET OF 3 CAKE TINS PANTRY DESIGN </a:t>
                      </a:r>
                    </a:p>
                    <a:p>
                      <a:pPr lvl="1" algn="l" fontAlgn="b"/>
                      <a:r>
                        <a:rPr lang="en-US" sz="1600" dirty="0"/>
                        <a:t>LUNCH BAG BLACK SKULL</a:t>
                      </a:r>
                    </a:p>
                    <a:p>
                      <a:pPr lvl="1" algn="l" fontAlgn="b"/>
                      <a:r>
                        <a:rPr lang="en-US" sz="1600" dirty="0"/>
                        <a:t>NATURAL SLATE HEART CHALKBOARD</a:t>
                      </a:r>
                    </a:p>
                    <a:p>
                      <a:pPr lvl="1" algn="l" fontAlgn="b"/>
                      <a:r>
                        <a:rPr lang="en-US" sz="1600" dirty="0"/>
                        <a:t>LUNCH BAG SUKI DESIGN</a:t>
                      </a:r>
                    </a:p>
                    <a:p>
                      <a:pPr lvl="1" algn="l" fontAlgn="b"/>
                      <a:r>
                        <a:rPr lang="en-US" sz="1600" dirty="0"/>
                        <a:t>HEART OF WICKER SMALL</a:t>
                      </a:r>
                    </a:p>
                    <a:p>
                      <a:pPr lvl="1" algn="l" fontAlgn="b"/>
                      <a:r>
                        <a:rPr lang="en-US" sz="1600" dirty="0"/>
                        <a:t>JUMBO BAG PINK POLKADOT</a:t>
                      </a:r>
                    </a:p>
                    <a:p>
                      <a:pPr lvl="1" algn="l" fontAlgn="b"/>
                      <a:r>
                        <a:rPr lang="en-US" sz="1600" dirty="0"/>
                        <a:t>PACK OF 72 RETROSPOT CAKE CASES</a:t>
                      </a:r>
                    </a:p>
                    <a:p>
                      <a:pPr lvl="1" algn="l" fontAlgn="b"/>
                      <a:r>
                        <a:rPr lang="en-US" sz="1600" dirty="0"/>
                        <a:t>JUMBO BAG VINTAGE DOILY </a:t>
                      </a:r>
                      <a:endParaRPr lang="en-US" sz="1600" b="0" i="0" u="none" strike="noStrike" dirty="0">
                        <a:solidFill>
                          <a:srgbClr val="000000"/>
                        </a:solidFill>
                        <a:effectLst/>
                        <a:latin typeface="Poppins" panose="00000500000000000000" pitchFamily="2" charset="0"/>
                      </a:endParaRPr>
                    </a:p>
                  </a:txBody>
                  <a:tcPr marL="7620" marR="7620" marT="7620" marB="0" anchor="b">
                    <a:lnL w="6350" cap="flat" cmpd="sng" algn="ctr">
                      <a:solidFill>
                        <a:srgbClr val="C0C12F"/>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C0C12F"/>
                      </a:solidFill>
                      <a:prstDash val="solid"/>
                      <a:round/>
                      <a:headEnd type="none" w="med" len="med"/>
                      <a:tailEnd type="none" w="med" len="med"/>
                    </a:lnB>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tcPr>
                </a:tc>
                <a:extLst>
                  <a:ext uri="{0D108BD9-81ED-4DB2-BD59-A6C34878D82A}">
                    <a16:rowId xmlns:a16="http://schemas.microsoft.com/office/drawing/2014/main" val="3246572672"/>
                  </a:ext>
                </a:extLst>
              </a:tr>
            </a:tbl>
          </a:graphicData>
        </a:graphic>
      </p:graphicFrame>
    </p:spTree>
    <p:extLst>
      <p:ext uri="{BB962C8B-B14F-4D97-AF65-F5344CB8AC3E}">
        <p14:creationId xmlns:p14="http://schemas.microsoft.com/office/powerpoint/2010/main" val="825466855"/>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94C497B-783B-6AD2-6423-0E01BFCBC613}"/>
              </a:ext>
            </a:extLst>
          </p:cNvPr>
          <p:cNvSpPr/>
          <p:nvPr/>
        </p:nvSpPr>
        <p:spPr>
          <a:xfrm>
            <a:off x="539552" y="88268"/>
            <a:ext cx="7677625" cy="60233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926823" y="206425"/>
            <a:ext cx="3033110"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High Demand Items</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aphicFrame>
        <p:nvGraphicFramePr>
          <p:cNvPr id="7" name="Table 6">
            <a:extLst>
              <a:ext uri="{FF2B5EF4-FFF2-40B4-BE49-F238E27FC236}">
                <a16:creationId xmlns:a16="http://schemas.microsoft.com/office/drawing/2014/main" id="{7F770D06-1BCC-6792-826A-D7731EE75811}"/>
              </a:ext>
            </a:extLst>
          </p:cNvPr>
          <p:cNvGraphicFramePr>
            <a:graphicFrameLocks noGrp="1"/>
          </p:cNvGraphicFramePr>
          <p:nvPr>
            <p:extLst>
              <p:ext uri="{D42A27DB-BD31-4B8C-83A1-F6EECF244321}">
                <p14:modId xmlns:p14="http://schemas.microsoft.com/office/powerpoint/2010/main" val="3565967341"/>
              </p:ext>
            </p:extLst>
          </p:nvPr>
        </p:nvGraphicFramePr>
        <p:xfrm>
          <a:off x="926822" y="745841"/>
          <a:ext cx="2874418" cy="4334332"/>
        </p:xfrm>
        <a:graphic>
          <a:graphicData uri="http://schemas.openxmlformats.org/drawingml/2006/table">
            <a:tbl>
              <a:tblPr/>
              <a:tblGrid>
                <a:gridCol w="2874418">
                  <a:extLst>
                    <a:ext uri="{9D8B030D-6E8A-4147-A177-3AD203B41FA5}">
                      <a16:colId xmlns:a16="http://schemas.microsoft.com/office/drawing/2014/main" val="3794180606"/>
                    </a:ext>
                  </a:extLst>
                </a:gridCol>
              </a:tblGrid>
              <a:tr h="486232">
                <a:tc>
                  <a:txBody>
                    <a:bodyPr/>
                    <a:lstStyle/>
                    <a:p>
                      <a:pPr lvl="1" algn="l" fontAlgn="b"/>
                      <a:r>
                        <a:rPr lang="en-US" sz="1400" b="1" i="0" u="none" strike="noStrike" dirty="0">
                          <a:solidFill>
                            <a:srgbClr val="FFFFFF"/>
                          </a:solidFill>
                          <a:effectLst/>
                          <a:latin typeface="Poppins" panose="00000500000000000000" pitchFamily="2" charset="0"/>
                        </a:rPr>
                        <a:t>ITEM DESCRIPTIONS</a:t>
                      </a:r>
                    </a:p>
                  </a:txBody>
                  <a:tcPr marL="7620" marR="7620" marT="7620" marB="0" anchor="ctr">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92D050"/>
                    </a:solidFill>
                  </a:tcPr>
                </a:tc>
                <a:extLst>
                  <a:ext uri="{0D108BD9-81ED-4DB2-BD59-A6C34878D82A}">
                    <a16:rowId xmlns:a16="http://schemas.microsoft.com/office/drawing/2014/main" val="2229587840"/>
                  </a:ext>
                </a:extLst>
              </a:tr>
              <a:tr h="3824748">
                <a:tc>
                  <a:txBody>
                    <a:bodyPr/>
                    <a:lstStyle/>
                    <a:p>
                      <a:pPr lvl="1" algn="l" fontAlgn="b"/>
                      <a:r>
                        <a:rPr lang="en-US" sz="1800" b="0" i="0" kern="1200" dirty="0">
                          <a:solidFill>
                            <a:schemeClr val="tx1"/>
                          </a:solidFill>
                          <a:effectLst/>
                          <a:latin typeface="+mn-lt"/>
                          <a:ea typeface="+mn-ea"/>
                          <a:cs typeface="+mn-cs"/>
                        </a:rPr>
                        <a:t>WHITE HANGING HEART T-LIGHT HOLDER PARTY BUNTING JUMBO BAG RED RETROSPOT PAPER CHAIN KIT 50'S CHRISTMAS ASSORTED COLOUR BIRD ORNAMENT POPCORN HOLDER RABBIT NIGHT LIGHT JUMBO BAG PINK POLKADOT JUMBO BAG VINTAGE DOILY VICTORIAN GLASS HANGING T-LIGHT</a:t>
                      </a:r>
                      <a:endParaRPr lang="en-US" sz="1400" b="0" i="0" u="none" strike="noStrike" dirty="0">
                        <a:solidFill>
                          <a:srgbClr val="000000"/>
                        </a:solidFill>
                        <a:effectLst/>
                        <a:latin typeface="Poppins" panose="00000500000000000000" pitchFamily="2" charset="0"/>
                      </a:endParaRPr>
                    </a:p>
                  </a:txBody>
                  <a:tcPr marL="7620" marR="7620" marT="7620" marB="0" anchor="b">
                    <a:lnL w="6350" cap="flat" cmpd="sng" algn="ctr">
                      <a:solidFill>
                        <a:srgbClr val="C0C12F"/>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C0C12F"/>
                      </a:solidFill>
                      <a:prstDash val="solid"/>
                      <a:round/>
                      <a:headEnd type="none" w="med" len="med"/>
                      <a:tailEnd type="none" w="med" len="med"/>
                    </a:lnB>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tcPr>
                </a:tc>
                <a:extLst>
                  <a:ext uri="{0D108BD9-81ED-4DB2-BD59-A6C34878D82A}">
                    <a16:rowId xmlns:a16="http://schemas.microsoft.com/office/drawing/2014/main" val="3212072813"/>
                  </a:ext>
                </a:extLst>
              </a:tr>
            </a:tbl>
          </a:graphicData>
        </a:graphic>
      </p:graphicFrame>
    </p:spTree>
    <p:extLst>
      <p:ext uri="{BB962C8B-B14F-4D97-AF65-F5344CB8AC3E}">
        <p14:creationId xmlns:p14="http://schemas.microsoft.com/office/powerpoint/2010/main" val="77806262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a:extLst>
              <a:ext uri="{FF2B5EF4-FFF2-40B4-BE49-F238E27FC236}">
                <a16:creationId xmlns:a16="http://schemas.microsoft.com/office/drawing/2014/main" id="{5A6733F1-FE1F-E35B-8338-0E8F0BFB9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13" y="0"/>
            <a:ext cx="8080375" cy="51450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Chart 19">
            <a:extLst>
              <a:ext uri="{FF2B5EF4-FFF2-40B4-BE49-F238E27FC236}">
                <a16:creationId xmlns:a16="http://schemas.microsoft.com/office/drawing/2014/main" id="{B843D1DE-3B40-0414-0D33-D8CD957D9285}"/>
              </a:ext>
            </a:extLst>
          </p:cNvPr>
          <p:cNvGraphicFramePr/>
          <p:nvPr/>
        </p:nvGraphicFramePr>
        <p:xfrm>
          <a:off x="2892152" y="844352"/>
          <a:ext cx="5892316" cy="3868204"/>
        </p:xfrm>
        <a:graphic>
          <a:graphicData uri="http://schemas.openxmlformats.org/drawingml/2006/chart">
            <c:chart xmlns:c="http://schemas.openxmlformats.org/drawingml/2006/chart" xmlns:r="http://schemas.openxmlformats.org/officeDocument/2006/relationships" r:id="rId4"/>
          </a:graphicData>
        </a:graphic>
      </p:graphicFrame>
      <p:sp>
        <p:nvSpPr>
          <p:cNvPr id="25" name="Rectangle 24">
            <a:extLst>
              <a:ext uri="{FF2B5EF4-FFF2-40B4-BE49-F238E27FC236}">
                <a16:creationId xmlns:a16="http://schemas.microsoft.com/office/drawing/2014/main" id="{C94C497B-783B-6AD2-6423-0E01BFCBC613}"/>
              </a:ext>
            </a:extLst>
          </p:cNvPr>
          <p:cNvSpPr/>
          <p:nvPr/>
        </p:nvSpPr>
        <p:spPr>
          <a:xfrm>
            <a:off x="738573" y="17940"/>
            <a:ext cx="7152456"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H" sz="1800" b="0" i="0" u="none" strike="noStrike" kern="1200" cap="none" spc="0" normalizeH="0" baseline="0" noProof="0">
              <a:ln>
                <a:noFill/>
              </a:ln>
              <a:solidFill>
                <a:prstClr val="white"/>
              </a:solidFill>
              <a:effectLst/>
              <a:uLnTx/>
              <a:uFillTx/>
              <a:latin typeface="FZZhengHeiS-R-GB"/>
              <a:cs typeface="+mn-cs"/>
            </a:endParaRPr>
          </a:p>
        </p:txBody>
      </p:sp>
      <p:sp>
        <p:nvSpPr>
          <p:cNvPr id="27" name="文本框 9">
            <a:extLst>
              <a:ext uri="{FF2B5EF4-FFF2-40B4-BE49-F238E27FC236}">
                <a16:creationId xmlns:a16="http://schemas.microsoft.com/office/drawing/2014/main" id="{467E3814-3E35-AFD4-E745-EFC48C01B249}"/>
              </a:ext>
            </a:extLst>
          </p:cNvPr>
          <p:cNvSpPr txBox="1"/>
          <p:nvPr/>
        </p:nvSpPr>
        <p:spPr>
          <a:xfrm>
            <a:off x="2519772" y="40121"/>
            <a:ext cx="4812196" cy="421256"/>
          </a:xfrm>
          <a:prstGeom prst="rect">
            <a:avLst/>
          </a:prstGeom>
          <a:noFill/>
        </p:spPr>
        <p:txBody>
          <a:bodyPr wrap="square" lIns="51422" tIns="25711" rIns="51422" bIns="2571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FZZhengHeiS-R-GB"/>
                <a:cs typeface="+mn-cs"/>
              </a:rPr>
              <a:t>RFM CUSTOMER SEGMENTS</a:t>
            </a:r>
          </a:p>
        </p:txBody>
      </p:sp>
      <p:sp>
        <p:nvSpPr>
          <p:cNvPr id="2" name="TextBox 1">
            <a:extLst>
              <a:ext uri="{FF2B5EF4-FFF2-40B4-BE49-F238E27FC236}">
                <a16:creationId xmlns:a16="http://schemas.microsoft.com/office/drawing/2014/main" id="{3BA12DC5-F0E7-0AAC-C473-F8EAD8E07C2C}"/>
              </a:ext>
            </a:extLst>
          </p:cNvPr>
          <p:cNvSpPr txBox="1"/>
          <p:nvPr/>
        </p:nvSpPr>
        <p:spPr>
          <a:xfrm>
            <a:off x="1747764" y="2460349"/>
            <a:ext cx="9721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FZZhengHeiS-R-GB"/>
              </a:rPr>
              <a:t>2,463</a:t>
            </a:r>
            <a:endParaRPr kumimoji="0" lang="en-US" sz="1800" b="0" i="0" u="none" strike="noStrike" kern="1200" cap="none" spc="0" normalizeH="0" baseline="0" noProof="0" dirty="0">
              <a:ln>
                <a:noFill/>
              </a:ln>
              <a:solidFill>
                <a:prstClr val="black"/>
              </a:solidFill>
              <a:effectLst/>
              <a:uLnTx/>
              <a:uFillTx/>
              <a:latin typeface="FZZhengHeiS-R-GB"/>
              <a:cs typeface="+mn-cs"/>
            </a:endParaRPr>
          </a:p>
        </p:txBody>
      </p:sp>
      <p:sp>
        <p:nvSpPr>
          <p:cNvPr id="3" name="TextBox 2">
            <a:extLst>
              <a:ext uri="{FF2B5EF4-FFF2-40B4-BE49-F238E27FC236}">
                <a16:creationId xmlns:a16="http://schemas.microsoft.com/office/drawing/2014/main" id="{5A8355A6-F622-C2C7-E459-D9C09874130A}"/>
              </a:ext>
            </a:extLst>
          </p:cNvPr>
          <p:cNvSpPr txBox="1"/>
          <p:nvPr/>
        </p:nvSpPr>
        <p:spPr>
          <a:xfrm>
            <a:off x="3567348" y="3481067"/>
            <a:ext cx="9957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ZZhengHeiS-R-GB"/>
                <a:cs typeface="+mn-cs"/>
              </a:rPr>
              <a:t>924</a:t>
            </a:r>
          </a:p>
        </p:txBody>
      </p:sp>
      <p:sp>
        <p:nvSpPr>
          <p:cNvPr id="6" name="TextBox 5">
            <a:extLst>
              <a:ext uri="{FF2B5EF4-FFF2-40B4-BE49-F238E27FC236}">
                <a16:creationId xmlns:a16="http://schemas.microsoft.com/office/drawing/2014/main" id="{F1286667-092B-C205-AF98-2D4386F972D3}"/>
              </a:ext>
            </a:extLst>
          </p:cNvPr>
          <p:cNvSpPr txBox="1"/>
          <p:nvPr/>
        </p:nvSpPr>
        <p:spPr>
          <a:xfrm>
            <a:off x="5358426" y="4228166"/>
            <a:ext cx="9597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FZZhengHeiS-R-GB"/>
              </a:rPr>
              <a:t>319</a:t>
            </a:r>
            <a:endParaRPr kumimoji="0" lang="en-US" sz="1800" b="0" i="0" u="none" strike="noStrike" kern="1200" cap="none" spc="0" normalizeH="0" baseline="0" noProof="0" dirty="0">
              <a:ln>
                <a:noFill/>
              </a:ln>
              <a:solidFill>
                <a:prstClr val="black"/>
              </a:solidFill>
              <a:effectLst/>
              <a:uLnTx/>
              <a:uFillTx/>
              <a:latin typeface="FZZhengHeiS-R-GB"/>
              <a:cs typeface="+mn-cs"/>
            </a:endParaRPr>
          </a:p>
        </p:txBody>
      </p:sp>
      <p:sp>
        <p:nvSpPr>
          <p:cNvPr id="7" name="TextBox 6">
            <a:extLst>
              <a:ext uri="{FF2B5EF4-FFF2-40B4-BE49-F238E27FC236}">
                <a16:creationId xmlns:a16="http://schemas.microsoft.com/office/drawing/2014/main" id="{46735CC0-65F3-9240-B541-B8549768189B}"/>
              </a:ext>
            </a:extLst>
          </p:cNvPr>
          <p:cNvSpPr txBox="1"/>
          <p:nvPr/>
        </p:nvSpPr>
        <p:spPr>
          <a:xfrm>
            <a:off x="7331968" y="4228166"/>
            <a:ext cx="8697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ZZhengHeiS-R-GB"/>
                <a:cs typeface="+mn-cs"/>
              </a:rPr>
              <a:t>245</a:t>
            </a:r>
          </a:p>
        </p:txBody>
      </p:sp>
    </p:spTree>
    <p:extLst>
      <p:ext uri="{BB962C8B-B14F-4D97-AF65-F5344CB8AC3E}">
        <p14:creationId xmlns:p14="http://schemas.microsoft.com/office/powerpoint/2010/main" val="2054358240"/>
      </p:ext>
    </p:extLst>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94C497B-783B-6AD2-6423-0E01BFCBC613}"/>
              </a:ext>
            </a:extLst>
          </p:cNvPr>
          <p:cNvSpPr/>
          <p:nvPr/>
        </p:nvSpPr>
        <p:spPr>
          <a:xfrm>
            <a:off x="738573" y="45189"/>
            <a:ext cx="7704856" cy="49633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3275856" y="82728"/>
            <a:ext cx="4357518"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Sales by Segment</a:t>
            </a:r>
          </a:p>
        </p:txBody>
      </p:sp>
      <p:pic>
        <p:nvPicPr>
          <p:cNvPr id="7170" name="Picture 2">
            <a:extLst>
              <a:ext uri="{FF2B5EF4-FFF2-40B4-BE49-F238E27FC236}">
                <a16:creationId xmlns:a16="http://schemas.microsoft.com/office/drawing/2014/main" id="{37E64C0B-86B0-F61A-C192-CD0A228B8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050" y="541522"/>
            <a:ext cx="7835900" cy="46035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E4FEFA2-35F4-59BE-4119-88947085C1FB}"/>
              </a:ext>
            </a:extLst>
          </p:cNvPr>
          <p:cNvSpPr txBox="1"/>
          <p:nvPr/>
        </p:nvSpPr>
        <p:spPr>
          <a:xfrm>
            <a:off x="3419872" y="4244466"/>
            <a:ext cx="1008112" cy="369332"/>
          </a:xfrm>
          <a:prstGeom prst="rect">
            <a:avLst/>
          </a:prstGeom>
          <a:noFill/>
        </p:spPr>
        <p:txBody>
          <a:bodyPr wrap="square" rtlCol="0">
            <a:spAutoFit/>
          </a:bodyPr>
          <a:lstStyle/>
          <a:p>
            <a:r>
              <a:rPr lang="en-US" dirty="0"/>
              <a:t>73,289</a:t>
            </a:r>
          </a:p>
        </p:txBody>
      </p:sp>
      <p:sp>
        <p:nvSpPr>
          <p:cNvPr id="8" name="TextBox 7">
            <a:extLst>
              <a:ext uri="{FF2B5EF4-FFF2-40B4-BE49-F238E27FC236}">
                <a16:creationId xmlns:a16="http://schemas.microsoft.com/office/drawing/2014/main" id="{01106E69-6BCD-93C0-850F-8E899975B251}"/>
              </a:ext>
            </a:extLst>
          </p:cNvPr>
          <p:cNvSpPr txBox="1"/>
          <p:nvPr/>
        </p:nvSpPr>
        <p:spPr>
          <a:xfrm>
            <a:off x="1403648" y="4244466"/>
            <a:ext cx="1008112" cy="369332"/>
          </a:xfrm>
          <a:prstGeom prst="rect">
            <a:avLst/>
          </a:prstGeom>
          <a:noFill/>
        </p:spPr>
        <p:txBody>
          <a:bodyPr wrap="square" rtlCol="0">
            <a:spAutoFit/>
          </a:bodyPr>
          <a:lstStyle/>
          <a:p>
            <a:r>
              <a:rPr lang="en-US" dirty="0"/>
              <a:t>142,734</a:t>
            </a:r>
          </a:p>
        </p:txBody>
      </p:sp>
      <p:sp>
        <p:nvSpPr>
          <p:cNvPr id="9" name="TextBox 8">
            <a:extLst>
              <a:ext uri="{FF2B5EF4-FFF2-40B4-BE49-F238E27FC236}">
                <a16:creationId xmlns:a16="http://schemas.microsoft.com/office/drawing/2014/main" id="{F7C59EB7-9BBC-173D-60BA-97A562D458BB}"/>
              </a:ext>
            </a:extLst>
          </p:cNvPr>
          <p:cNvSpPr txBox="1"/>
          <p:nvPr/>
        </p:nvSpPr>
        <p:spPr>
          <a:xfrm>
            <a:off x="5328084" y="1240396"/>
            <a:ext cx="792088" cy="369332"/>
          </a:xfrm>
          <a:prstGeom prst="rect">
            <a:avLst/>
          </a:prstGeom>
          <a:noFill/>
        </p:spPr>
        <p:txBody>
          <a:bodyPr wrap="square" rtlCol="0">
            <a:spAutoFit/>
          </a:bodyPr>
          <a:lstStyle/>
          <a:p>
            <a:r>
              <a:rPr lang="en-US" dirty="0"/>
              <a:t>7.7m</a:t>
            </a:r>
          </a:p>
        </p:txBody>
      </p:sp>
      <p:sp>
        <p:nvSpPr>
          <p:cNvPr id="10" name="TextBox 9">
            <a:extLst>
              <a:ext uri="{FF2B5EF4-FFF2-40B4-BE49-F238E27FC236}">
                <a16:creationId xmlns:a16="http://schemas.microsoft.com/office/drawing/2014/main" id="{C2E14714-082D-844A-5475-5A7586D17201}"/>
              </a:ext>
            </a:extLst>
          </p:cNvPr>
          <p:cNvSpPr txBox="1"/>
          <p:nvPr/>
        </p:nvSpPr>
        <p:spPr>
          <a:xfrm>
            <a:off x="7020272" y="4059800"/>
            <a:ext cx="1008112" cy="369332"/>
          </a:xfrm>
          <a:prstGeom prst="rect">
            <a:avLst/>
          </a:prstGeom>
          <a:noFill/>
        </p:spPr>
        <p:txBody>
          <a:bodyPr wrap="square" rtlCol="0">
            <a:spAutoFit/>
          </a:bodyPr>
          <a:lstStyle/>
          <a:p>
            <a:r>
              <a:rPr lang="en-US" dirty="0"/>
              <a:t>664,142</a:t>
            </a:r>
          </a:p>
        </p:txBody>
      </p:sp>
    </p:spTree>
    <p:extLst>
      <p:ext uri="{BB962C8B-B14F-4D97-AF65-F5344CB8AC3E}">
        <p14:creationId xmlns:p14="http://schemas.microsoft.com/office/powerpoint/2010/main" val="414778080"/>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94C497B-783B-6AD2-6423-0E01BFCBC613}"/>
              </a:ext>
            </a:extLst>
          </p:cNvPr>
          <p:cNvSpPr/>
          <p:nvPr/>
        </p:nvSpPr>
        <p:spPr>
          <a:xfrm>
            <a:off x="521550" y="23326"/>
            <a:ext cx="8100900" cy="60233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7" name="文本框 9">
            <a:extLst>
              <a:ext uri="{FF2B5EF4-FFF2-40B4-BE49-F238E27FC236}">
                <a16:creationId xmlns:a16="http://schemas.microsoft.com/office/drawing/2014/main" id="{467E3814-3E35-AFD4-E745-EFC48C01B249}"/>
              </a:ext>
            </a:extLst>
          </p:cNvPr>
          <p:cNvSpPr txBox="1"/>
          <p:nvPr/>
        </p:nvSpPr>
        <p:spPr>
          <a:xfrm>
            <a:off x="2915816" y="178805"/>
            <a:ext cx="3312368" cy="421256"/>
          </a:xfrm>
          <a:prstGeom prst="rect">
            <a:avLst/>
          </a:prstGeom>
          <a:noFill/>
        </p:spPr>
        <p:txBody>
          <a:bodyPr wrap="square" lIns="51422" tIns="25711" rIns="51422" bIns="25711" rtlCol="0">
            <a:spAutoFit/>
          </a:bodyPr>
          <a:lstStyle/>
          <a:p>
            <a:pPr marL="0" lvl="1"/>
            <a:r>
              <a:rPr lang="en-US" altLang="zh-CN" sz="2400" dirty="0">
                <a:solidFill>
                  <a:schemeClr val="bg1"/>
                </a:solidFill>
                <a:latin typeface="微软雅黑" panose="020B0503020204020204" pitchFamily="34" charset="-122"/>
                <a:ea typeface="微软雅黑" panose="020B0503020204020204" pitchFamily="34" charset="-122"/>
              </a:rPr>
              <a:t>RECOMMENDATIONS</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754ECB87-AB3F-27A4-5A99-149A3E9DA918}"/>
              </a:ext>
            </a:extLst>
          </p:cNvPr>
          <p:cNvSpPr txBox="1"/>
          <p:nvPr/>
        </p:nvSpPr>
        <p:spPr>
          <a:xfrm>
            <a:off x="161510" y="951317"/>
            <a:ext cx="8820980" cy="4247317"/>
          </a:xfrm>
          <a:prstGeom prst="rect">
            <a:avLst/>
          </a:prstGeom>
          <a:noFill/>
        </p:spPr>
        <p:txBody>
          <a:bodyPr wrap="square">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Target the loyal customer and the potential loyalists segments by conducting further studies on what items are most patronized by these market segments and providing promotions on those.</a:t>
            </a:r>
          </a:p>
          <a:p>
            <a:pPr marL="342900" indent="-342900">
              <a:buAutoNum type="arabicPeriod" startAt="2"/>
            </a:pPr>
            <a:r>
              <a:rPr lang="en-US" dirty="0">
                <a:latin typeface="Times New Roman" panose="02020603050405020304" pitchFamily="18" charset="0"/>
                <a:cs typeface="Times New Roman" panose="02020603050405020304" pitchFamily="18" charset="0"/>
              </a:rPr>
              <a:t>Special promotions can be run on the more profitable items as a reward to loyal customers and potential loyalists for their frequency. This will increase their monetary value.</a:t>
            </a:r>
          </a:p>
          <a:p>
            <a:pPr marL="342900" indent="-342900">
              <a:buAutoNum type="arabicPeriod" startAt="2"/>
            </a:pPr>
            <a:r>
              <a:rPr lang="en-US" dirty="0">
                <a:latin typeface="Times New Roman" panose="02020603050405020304" pitchFamily="18" charset="0"/>
                <a:cs typeface="Times New Roman" panose="02020603050405020304" pitchFamily="18" charset="0"/>
              </a:rPr>
              <a:t>High Demand Items should be ordered ahead of time to maintain sales.</a:t>
            </a:r>
          </a:p>
          <a:p>
            <a:pPr marL="342900" indent="-342900">
              <a:buAutoNum type="arabicPeriod" startAt="2"/>
            </a:pPr>
            <a:r>
              <a:rPr lang="en-US" dirty="0">
                <a:effectLst/>
                <a:latin typeface="Times New Roman" panose="02020603050405020304" pitchFamily="18" charset="0"/>
                <a:cs typeface="Times New Roman" panose="02020603050405020304" pitchFamily="18" charset="0"/>
              </a:rPr>
              <a:t>High value purchases can be rewarded with freebies of the less purchased items.</a:t>
            </a:r>
          </a:p>
          <a:p>
            <a:pPr marL="342900" indent="-342900">
              <a:buAutoNum type="arabicPeriod" startAt="2"/>
            </a:pPr>
            <a:r>
              <a:rPr lang="en-US" dirty="0">
                <a:latin typeface="Times New Roman" panose="02020603050405020304" pitchFamily="18" charset="0"/>
                <a:cs typeface="Times New Roman" panose="02020603050405020304" pitchFamily="18" charset="0"/>
              </a:rPr>
              <a:t>Sundays are the best day for sales as the store generally gets more patronage then</a:t>
            </a:r>
          </a:p>
          <a:p>
            <a:pPr marL="342900" indent="-342900">
              <a:buAutoNum type="arabicPeriod" startAt="2"/>
            </a:pPr>
            <a:r>
              <a:rPr lang="en-US" dirty="0">
                <a:latin typeface="Times New Roman" panose="02020603050405020304" pitchFamily="18" charset="0"/>
                <a:cs typeface="Times New Roman" panose="02020603050405020304" pitchFamily="18" charset="0"/>
              </a:rPr>
              <a:t>Introduce bundling of high selling products with low selling ones during sales.</a:t>
            </a:r>
          </a:p>
          <a:p>
            <a:pPr marL="342900" indent="-342900">
              <a:buAutoNum type="arabicPeriod" startAt="2"/>
            </a:pPr>
            <a:r>
              <a:rPr lang="en-US" dirty="0">
                <a:latin typeface="Times New Roman" panose="02020603050405020304" pitchFamily="18" charset="0"/>
                <a:cs typeface="Times New Roman" panose="02020603050405020304" pitchFamily="18" charset="0"/>
              </a:rPr>
              <a:t>Shelves can be optimized by also arranging less patronized items with high demand Items or high patronage items and keeping them on front shelves for increased visibility.</a:t>
            </a:r>
          </a:p>
          <a:p>
            <a:pPr marL="342900" indent="-342900">
              <a:buAutoNum type="arabicPeriod" startAt="2"/>
            </a:pPr>
            <a:r>
              <a:rPr lang="en-US" dirty="0">
                <a:latin typeface="Times New Roman" panose="02020603050405020304" pitchFamily="18" charset="0"/>
                <a:cs typeface="Times New Roman" panose="02020603050405020304" pitchFamily="18" charset="0"/>
              </a:rPr>
              <a:t>Conduct study on what causes items to be returned. </a:t>
            </a:r>
          </a:p>
          <a:p>
            <a:pPr marL="342900" indent="-342900">
              <a:buAutoNum type="arabicPeriod" startAt="2"/>
            </a:pPr>
            <a:r>
              <a:rPr lang="en-US" dirty="0">
                <a:latin typeface="Times New Roman" panose="02020603050405020304" pitchFamily="18" charset="0"/>
                <a:cs typeface="Times New Roman" panose="02020603050405020304" pitchFamily="18" charset="0"/>
              </a:rPr>
              <a:t>Provide data on profit made from each sale to allow analysis of the profitability of sales.</a:t>
            </a:r>
          </a:p>
          <a:p>
            <a:pPr marL="342900" indent="-342900">
              <a:buAutoNum type="arabicPeriod" startAt="2"/>
            </a:pPr>
            <a:r>
              <a:rPr lang="en-US" dirty="0">
                <a:latin typeface="Times New Roman" panose="02020603050405020304" pitchFamily="18" charset="0"/>
                <a:cs typeface="Times New Roman" panose="02020603050405020304" pitchFamily="18" charset="0"/>
              </a:rPr>
              <a:t>More data from past years should be provided to help predict future revenue.</a:t>
            </a:r>
          </a:p>
          <a:p>
            <a:pPr marL="342900" indent="-342900">
              <a:buAutoNum type="arabicPeriod" startAt="3"/>
            </a:pPr>
            <a:endParaRPr lang="en-US" dirty="0">
              <a:solidFill>
                <a:schemeClr val="tx2">
                  <a:lumMod val="60000"/>
                  <a:lumOff val="40000"/>
                </a:schemeClr>
              </a:solidFill>
              <a:latin typeface="Söhne"/>
            </a:endParaRPr>
          </a:p>
        </p:txBody>
      </p:sp>
    </p:spTree>
    <p:extLst>
      <p:ext uri="{BB962C8B-B14F-4D97-AF65-F5344CB8AC3E}">
        <p14:creationId xmlns:p14="http://schemas.microsoft.com/office/powerpoint/2010/main" val="391208542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45636" y="3821119"/>
            <a:ext cx="391992" cy="391992"/>
            <a:chOff x="3724323" y="1908536"/>
            <a:chExt cx="1329153" cy="1329153"/>
          </a:xfrm>
        </p:grpSpPr>
        <p:sp>
          <p:nvSpPr>
            <p:cNvPr id="11" name="椭圆 10"/>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12" name="椭圆 11"/>
            <p:cNvSpPr/>
            <p:nvPr/>
          </p:nvSpPr>
          <p:spPr>
            <a:xfrm>
              <a:off x="3839838" y="2024052"/>
              <a:ext cx="1098122" cy="1098122"/>
            </a:xfrm>
            <a:prstGeom prst="ellipse">
              <a:avLst/>
            </a:prstGeom>
            <a:solidFill>
              <a:srgbClr val="01ACBE"/>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grpSp>
        <p:nvGrpSpPr>
          <p:cNvPr id="13" name="组合 12"/>
          <p:cNvGrpSpPr/>
          <p:nvPr/>
        </p:nvGrpSpPr>
        <p:grpSpPr>
          <a:xfrm>
            <a:off x="-1001836" y="3062245"/>
            <a:ext cx="2616231" cy="2850341"/>
            <a:chOff x="174938" y="3411566"/>
            <a:chExt cx="1329153" cy="1448090"/>
          </a:xfrm>
        </p:grpSpPr>
        <p:sp>
          <p:nvSpPr>
            <p:cNvPr id="14" name="椭圆 13"/>
            <p:cNvSpPr/>
            <p:nvPr/>
          </p:nvSpPr>
          <p:spPr>
            <a:xfrm>
              <a:off x="174938" y="341156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15" name="椭圆 14"/>
            <p:cNvSpPr/>
            <p:nvPr/>
          </p:nvSpPr>
          <p:spPr>
            <a:xfrm>
              <a:off x="190846" y="3761534"/>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p>
          </p:txBody>
        </p:sp>
      </p:grpSp>
      <p:grpSp>
        <p:nvGrpSpPr>
          <p:cNvPr id="16" name="组合 15"/>
          <p:cNvGrpSpPr/>
          <p:nvPr/>
        </p:nvGrpSpPr>
        <p:grpSpPr>
          <a:xfrm>
            <a:off x="1216050" y="4405806"/>
            <a:ext cx="556818" cy="556818"/>
            <a:chOff x="3724323" y="1908536"/>
            <a:chExt cx="1329153" cy="1329153"/>
          </a:xfrm>
        </p:grpSpPr>
        <p:sp>
          <p:nvSpPr>
            <p:cNvPr id="17" name="椭圆 16"/>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18" name="椭圆 17"/>
            <p:cNvSpPr/>
            <p:nvPr/>
          </p:nvSpPr>
          <p:spPr>
            <a:xfrm>
              <a:off x="3839838" y="2024052"/>
              <a:ext cx="1098122" cy="1098122"/>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p>
          </p:txBody>
        </p:sp>
      </p:grpSp>
      <p:grpSp>
        <p:nvGrpSpPr>
          <p:cNvPr id="19" name="组合 18"/>
          <p:cNvGrpSpPr/>
          <p:nvPr/>
        </p:nvGrpSpPr>
        <p:grpSpPr>
          <a:xfrm>
            <a:off x="2221892" y="4192303"/>
            <a:ext cx="854839" cy="854839"/>
            <a:chOff x="3724323" y="1908536"/>
            <a:chExt cx="1329153" cy="1329153"/>
          </a:xfrm>
        </p:grpSpPr>
        <p:sp>
          <p:nvSpPr>
            <p:cNvPr id="20" name="椭圆 19"/>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21" name="椭圆 20"/>
            <p:cNvSpPr/>
            <p:nvPr/>
          </p:nvSpPr>
          <p:spPr>
            <a:xfrm>
              <a:off x="3839838" y="2024052"/>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p>
          </p:txBody>
        </p:sp>
      </p:grpSp>
      <p:grpSp>
        <p:nvGrpSpPr>
          <p:cNvPr id="22" name="组合 21"/>
          <p:cNvGrpSpPr/>
          <p:nvPr/>
        </p:nvGrpSpPr>
        <p:grpSpPr>
          <a:xfrm>
            <a:off x="1704162" y="3938806"/>
            <a:ext cx="548610" cy="548610"/>
            <a:chOff x="3724323" y="1908536"/>
            <a:chExt cx="1329153" cy="1329153"/>
          </a:xfrm>
        </p:grpSpPr>
        <p:sp>
          <p:nvSpPr>
            <p:cNvPr id="23" name="椭圆 22"/>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24" name="椭圆 23"/>
            <p:cNvSpPr/>
            <p:nvPr/>
          </p:nvSpPr>
          <p:spPr>
            <a:xfrm>
              <a:off x="3839838" y="2024052"/>
              <a:ext cx="1098122" cy="1098122"/>
            </a:xfrm>
            <a:prstGeom prst="ellipse">
              <a:avLst/>
            </a:prstGeom>
            <a:solidFill>
              <a:schemeClr val="tx1">
                <a:lumMod val="75000"/>
                <a:lumOff val="2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grpSp>
        <p:nvGrpSpPr>
          <p:cNvPr id="25" name="组合 24"/>
          <p:cNvGrpSpPr/>
          <p:nvPr/>
        </p:nvGrpSpPr>
        <p:grpSpPr>
          <a:xfrm>
            <a:off x="1429856" y="2925664"/>
            <a:ext cx="274306" cy="274306"/>
            <a:chOff x="3724323" y="1908536"/>
            <a:chExt cx="1329153" cy="1329153"/>
          </a:xfrm>
        </p:grpSpPr>
        <p:sp>
          <p:nvSpPr>
            <p:cNvPr id="26" name="椭圆 25"/>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27" name="椭圆 26"/>
            <p:cNvSpPr/>
            <p:nvPr/>
          </p:nvSpPr>
          <p:spPr>
            <a:xfrm>
              <a:off x="3839838" y="2024052"/>
              <a:ext cx="1098122" cy="1098122"/>
            </a:xfrm>
            <a:prstGeom prst="ellipse">
              <a:avLst/>
            </a:prstGeom>
            <a:gradFill>
              <a:gsLst>
                <a:gs pos="0">
                  <a:srgbClr val="D8DBDE"/>
                </a:gs>
                <a:gs pos="100000">
                  <a:srgbClr val="F9F9F9"/>
                </a:gs>
              </a:gsLst>
              <a:lin ang="16800000" scaled="0"/>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grpSp>
        <p:nvGrpSpPr>
          <p:cNvPr id="31" name="组合 30"/>
          <p:cNvGrpSpPr/>
          <p:nvPr/>
        </p:nvGrpSpPr>
        <p:grpSpPr>
          <a:xfrm>
            <a:off x="1546559" y="3430847"/>
            <a:ext cx="780545" cy="780545"/>
            <a:chOff x="3724323" y="1908536"/>
            <a:chExt cx="1329153" cy="1329153"/>
          </a:xfrm>
        </p:grpSpPr>
        <p:sp>
          <p:nvSpPr>
            <p:cNvPr id="32" name="椭圆 31"/>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33" name="椭圆 32"/>
            <p:cNvSpPr/>
            <p:nvPr/>
          </p:nvSpPr>
          <p:spPr>
            <a:xfrm>
              <a:off x="3839838" y="2024052"/>
              <a:ext cx="1098122" cy="1098122"/>
            </a:xfrm>
            <a:prstGeom prst="ellipse">
              <a:avLst/>
            </a:prstGeom>
            <a:solidFill>
              <a:srgbClr val="92D050"/>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grpSp>
        <p:nvGrpSpPr>
          <p:cNvPr id="34" name="组合 33"/>
          <p:cNvGrpSpPr/>
          <p:nvPr/>
        </p:nvGrpSpPr>
        <p:grpSpPr>
          <a:xfrm>
            <a:off x="337342" y="3228871"/>
            <a:ext cx="560871" cy="560871"/>
            <a:chOff x="3724323" y="1908536"/>
            <a:chExt cx="1329153" cy="1329153"/>
          </a:xfrm>
        </p:grpSpPr>
        <p:sp>
          <p:nvSpPr>
            <p:cNvPr id="35" name="椭圆 34"/>
            <p:cNvSpPr/>
            <p:nvPr/>
          </p:nvSpPr>
          <p:spPr>
            <a:xfrm>
              <a:off x="3724323"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p>
          </p:txBody>
        </p:sp>
        <p:sp>
          <p:nvSpPr>
            <p:cNvPr id="36" name="椭圆 35"/>
            <p:cNvSpPr/>
            <p:nvPr/>
          </p:nvSpPr>
          <p:spPr>
            <a:xfrm>
              <a:off x="3839838" y="2024052"/>
              <a:ext cx="1098122" cy="1098122"/>
            </a:xfrm>
            <a:prstGeom prst="ellipse">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p>
          </p:txBody>
        </p:sp>
      </p:grpSp>
      <p:sp>
        <p:nvSpPr>
          <p:cNvPr id="45" name="文本框 9"/>
          <p:cNvSpPr txBox="1"/>
          <p:nvPr/>
        </p:nvSpPr>
        <p:spPr>
          <a:xfrm>
            <a:off x="1138406" y="1901663"/>
            <a:ext cx="6445821" cy="975254"/>
          </a:xfrm>
          <a:prstGeom prst="rect">
            <a:avLst/>
          </a:prstGeom>
          <a:noFill/>
        </p:spPr>
        <p:txBody>
          <a:bodyPr wrap="square" lIns="51422" tIns="25711" rIns="51422" bIns="25711" rtlCol="0">
            <a:spAutoFit/>
          </a:bodyPr>
          <a:lstStyle/>
          <a:p>
            <a:pPr marL="0" lvl="1" algn="ctr"/>
            <a:r>
              <a:rPr lang="en-US" altLang="zh-CN" sz="6000" b="1" dirty="0">
                <a:solidFill>
                  <a:srgbClr val="663A77"/>
                </a:solidFill>
                <a:latin typeface="微软雅黑" panose="020B0503020204020204" pitchFamily="34" charset="-122"/>
                <a:ea typeface="微软雅黑" panose="020B0503020204020204" pitchFamily="34" charset="-122"/>
              </a:rPr>
              <a:t>THANK YOU</a:t>
            </a:r>
            <a:endParaRPr lang="zh-CN" altLang="en-US" sz="6000" dirty="0">
              <a:solidFill>
                <a:srgbClr val="663A7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1825007"/>
      </p:ext>
    </p:extLst>
  </p:cSld>
  <p:clrMapOvr>
    <a:masterClrMapping/>
  </p:clrMapOvr>
  <mc:AlternateContent xmlns:mc="http://schemas.openxmlformats.org/markup-compatibility/2006" xmlns:p14="http://schemas.microsoft.com/office/powerpoint/2010/main">
    <mc:Choice Requires="p14">
      <p:transition spd="slow" p14:dur="1200" advClick="0">
        <p:dissolve/>
      </p:transition>
    </mc:Choice>
    <mc:Fallback xmlns="">
      <p:transition spd="slow" advClick="0">
        <p:dissolv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D1C2D433-F107-4188-B4C6-D46D663B08E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微粒体总结"/>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www.freeppt7.com">
  <a:themeElements>
    <a:clrScheme name="自定义 39">
      <a:dk1>
        <a:sysClr val="windowText" lastClr="000000"/>
      </a:dk1>
      <a:lt1>
        <a:sysClr val="window" lastClr="FFFFFF"/>
      </a:lt1>
      <a:dk2>
        <a:srgbClr val="123E61"/>
      </a:dk2>
      <a:lt2>
        <a:srgbClr val="D4D4D6"/>
      </a:lt2>
      <a:accent1>
        <a:srgbClr val="123E61"/>
      </a:accent1>
      <a:accent2>
        <a:srgbClr val="123E61"/>
      </a:accent2>
      <a:accent3>
        <a:srgbClr val="123E61"/>
      </a:accent3>
      <a:accent4>
        <a:srgbClr val="123E61"/>
      </a:accent4>
      <a:accent5>
        <a:srgbClr val="123E61"/>
      </a:accent5>
      <a:accent6>
        <a:srgbClr val="000000"/>
      </a:accent6>
      <a:hlink>
        <a:srgbClr val="168BBA"/>
      </a:hlink>
      <a:folHlink>
        <a:srgbClr val="680000"/>
      </a:folHlink>
    </a:clrScheme>
    <a:fontScheme name="ljrzjgmu">
      <a:majorFont>
        <a:latin typeface="FZZhengHeiS-R-GB"/>
        <a:ea typeface="FZHei-B01S"/>
        <a:cs typeface=""/>
      </a:majorFont>
      <a:minorFont>
        <a:latin typeface="FZZhengHeiS-R-GB"/>
        <a:ea typeface="FZHei-B01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2223</TotalTime>
  <Words>791</Words>
  <Application>Microsoft Office PowerPoint</Application>
  <PresentationFormat>Custom</PresentationFormat>
  <Paragraphs>118</Paragraphs>
  <Slides>17</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Microsoft YaHei</vt:lpstr>
      <vt:lpstr>Arial</vt:lpstr>
      <vt:lpstr>Calibri</vt:lpstr>
      <vt:lpstr>Consolas</vt:lpstr>
      <vt:lpstr>FZZhengHeiS-R-GB</vt:lpstr>
      <vt:lpstr>Impact</vt:lpstr>
      <vt:lpstr>Poppins</vt:lpstr>
      <vt:lpstr>Söhne</vt:lpstr>
      <vt:lpstr>Times New Roman</vt:lpstr>
      <vt:lpstr>方正兰亭黑简体</vt:lpstr>
      <vt:lpstr>www.freeppt7.com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www.freeppt7.com</Manager>
  <Company>www.freeppt7.com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templates</dc:title>
  <dc:creator>www.freeppt7.com</dc:creator>
  <cp:keywords>www.freeppt7.com</cp:keywords>
  <dc:description>www.freeppt7.com</dc:description>
  <cp:lastModifiedBy>Marilyn Naayo</cp:lastModifiedBy>
  <cp:revision>234</cp:revision>
  <cp:lastPrinted>2022-07-15T08:04:30Z</cp:lastPrinted>
  <dcterms:created xsi:type="dcterms:W3CDTF">2017-04-06T01:11:23Z</dcterms:created>
  <dcterms:modified xsi:type="dcterms:W3CDTF">2024-04-29T23:15:42Z</dcterms:modified>
</cp:coreProperties>
</file>